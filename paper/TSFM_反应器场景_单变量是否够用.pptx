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914400"/>
            <a:ext cx="45720" cy="5029200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75320" y="914400"/>
            <a:ext cx="45720" cy="5029200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45720" cy="5029200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81160" y="914400"/>
            <a:ext cx="45720" cy="5029200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84080" y="914400"/>
            <a:ext cx="45720" cy="5029200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87000" y="914400"/>
            <a:ext cx="45720" cy="5029200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9920" y="914400"/>
            <a:ext cx="45720" cy="5029200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292840" y="914400"/>
            <a:ext cx="45720" cy="5029200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554480"/>
            <a:ext cx="164592" cy="292608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3716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DEEP DIVE  ·  REACTOR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8288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Microsoft YaHei"/>
              </a:rPr>
              <a:t>单变量 TSFM 够用吗？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8346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DCE3F0"/>
                </a:solidFill>
                <a:latin typeface="Microsoft YaHei"/>
              </a:rPr>
              <a:t>—— 反应器温度预测中外生变量的必要性论证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749039"/>
            <a:ext cx="2286000" cy="20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31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8B1A"/>
                </a:solidFill>
                <a:latin typeface="Microsoft YaHei"/>
              </a:rPr>
              <a:t>Why Univariate TSFM is Insufficient for Forced Systems — and What to Do Instead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2628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我们将回答 3 个问题：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Q1  </a:t>
            </a:r>
            <a:r>
              <a:rPr sz="1300" b="0">
                <a:solidFill>
                  <a:srgbClr val="DCE3F0"/>
                </a:solidFill>
                <a:latin typeface="Microsoft YaHei"/>
              </a:rPr>
              <a:t>反应器入口组分突变 → 反应速率 → 温度。这种受迫系统下，单变量 TSFM 是否完备？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Q2  </a:t>
            </a:r>
            <a:r>
              <a:rPr sz="1300" b="0">
                <a:solidFill>
                  <a:srgbClr val="DCE3F0"/>
                </a:solidFill>
                <a:latin typeface="Microsoft YaHei"/>
              </a:rPr>
              <a:t>如果不完备，是数学上的不可能，还是工程上『近似可用』？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Q3  </a:t>
            </a:r>
            <a:r>
              <a:rPr sz="1300" b="0">
                <a:solidFill>
                  <a:srgbClr val="DCE3F0"/>
                </a:solidFill>
                <a:latin typeface="Microsoft YaHei"/>
              </a:rPr>
              <a:t>如果单变量不行，TSFM 就完全没用了吗？还是它仍是最优工具的一部分？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400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CE3F0"/>
                </a:solidFill>
                <a:latin typeface="Microsoft YaHei"/>
              </a:rPr>
              <a:t>Jinsong Zhao   ·   2026-05-07   ·   23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目录 · 7 个部分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从『提出问题』到『给出可执行方案』的完整论证链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18872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Part 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1417320"/>
            <a:ext cx="992124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1463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提问 · 反应器场景的精确陈述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7373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P3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57400"/>
            <a:ext cx="1188720" cy="5943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05740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Part 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83080" y="2057400"/>
            <a:ext cx="992124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21031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反驳 · 单变量 TSFM 数学上为何不完备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3774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信息缺失 / Takens 边界 / 实证演示  P4-7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97480"/>
            <a:ext cx="118872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9748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Part III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3080" y="2697480"/>
            <a:ext cx="992124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27432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诚实结论 · 单变量 TSFM ≠ 全部 TSFM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0175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P8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37560"/>
            <a:ext cx="1188720" cy="5943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33756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Part IV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83080" y="3337560"/>
            <a:ext cx="992124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33832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解决方案 · 5 个层次的协变量整合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6576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Moirai / TimeXer / Fine-tune / 物理混合  P9-13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977640"/>
            <a:ext cx="118872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97764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Part 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83080" y="3977640"/>
            <a:ext cx="992124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40233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反应器场景的具体推荐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42976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变量清单 + 架构选型 + pipeline  P14-17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17720"/>
            <a:ext cx="1188720" cy="5943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61772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Part VI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83080" y="4617720"/>
            <a:ext cx="992124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46634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为何 TSFM 在协变量场景下仍然必要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937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预训练红利 / 跨反应器迁移 / 异常检测  P18-20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257800"/>
            <a:ext cx="118872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25780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Part VII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83080" y="5257800"/>
            <a:ext cx="992124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20240" y="53035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决策树 + 回答原始问题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55778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Microsoft YaHei"/>
              </a:rPr>
              <a:t>P21-23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 · 提问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 · 反应器场景的精确陈述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我们到底在预测什么？变量之间的因果关系是什么？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3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11247120" cy="2286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164592" cy="2286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Microsoft YaHei"/>
              </a:rPr>
              <a:t>场景：连续搅拌反应器 (CSTR) 温度预测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828800"/>
            <a:ext cx="1078992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观测目标：</a:t>
            </a:r>
            <a:r>
              <a:rPr sz="1300" b="0">
                <a:solidFill>
                  <a:srgbClr val="0B1F3A"/>
                </a:solidFill>
                <a:latin typeface="Microsoft YaHei"/>
              </a:rPr>
              <a:t>反应器内温度 T(t)（每秒一个采样点，要预测未来 30 分钟）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外生输入（可观测）：</a:t>
            </a:r>
            <a:r>
              <a:rPr sz="1300" b="0">
                <a:solidFill>
                  <a:srgbClr val="0B1F3A"/>
                </a:solidFill>
                <a:latin typeface="Microsoft YaHei"/>
              </a:rPr>
              <a:t>入口组分 x_A(t), x_B(t) ；流量 F(t) ；入口温度 T_in(t) ；夹套温度 T_j(t)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因果链：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  ① 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入口组分 x 改变  →  反应速率 r(x, T) 改变（Arrhenius / 质量作用定律）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  ② 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反应速率改变  →  反应释热 ΔH·r 改变  →  能量平衡破坏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  ③ 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能量平衡破坏  →  T 以热容时间常数 τ_T 响应（通常 1-10 分钟滞后）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C0392B"/>
                </a:solidFill>
                <a:latin typeface="Microsoft YaHei"/>
              </a:rPr>
              <a:t>关键问题：</a:t>
            </a:r>
            <a:r>
              <a:rPr sz="1300" b="1">
                <a:solidFill>
                  <a:srgbClr val="C0392B"/>
                </a:solidFill>
                <a:latin typeface="Microsoft YaHei"/>
              </a:rPr>
              <a:t>当 t = t* 时 x 阶跃变化，但 T 在 t* + τ_T 才开始响应。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C0392B"/>
                </a:solidFill>
                <a:latin typeface="Microsoft YaHei"/>
              </a:rPr>
              <a:t>→ </a:t>
            </a:r>
            <a:r>
              <a:rPr sz="1300" b="1">
                <a:solidFill>
                  <a:srgbClr val="C0392B"/>
                </a:solidFill>
                <a:latin typeface="Microsoft YaHei"/>
              </a:rPr>
              <a:t>仅用 T 的历史，模型在 [t*, t* + τ_T] 这段无法察觉变化已经发生。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39"/>
            <a:ext cx="11247120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Microsoft YaHei"/>
              </a:rPr>
              <a:t>示意：阶跃输入 → 滞后温度响应（横轴时间，纵轴标准化值）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x(t)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40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6E18"/>
                </a:solidFill>
                <a:latin typeface="Microsoft YaHei"/>
              </a:rPr>
              <a:t>T(t)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4937760"/>
            <a:ext cx="5029200" cy="0"/>
          </a:xfrm>
          <a:prstGeom prst="line">
            <a:avLst/>
          </a:prstGeom>
          <a:ln w="317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943600" y="4526280"/>
            <a:ext cx="0" cy="411480"/>
          </a:xfrm>
          <a:prstGeom prst="line">
            <a:avLst/>
          </a:prstGeom>
          <a:ln w="317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43600" y="4526280"/>
            <a:ext cx="5029200" cy="0"/>
          </a:xfrm>
          <a:prstGeom prst="line">
            <a:avLst/>
          </a:prstGeom>
          <a:ln w="317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43600" y="4526280"/>
            <a:ext cx="0" cy="1737360"/>
          </a:xfrm>
          <a:prstGeom prst="line">
            <a:avLst/>
          </a:prstGeom>
          <a:ln w="1016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0" y="63093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4A5568"/>
                </a:solidFill>
                <a:latin typeface="Microsoft YaHei"/>
              </a:rPr>
              <a:t>t = t*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4013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6586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9159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41732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4305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66878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79451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92024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04597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17170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9743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42316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54889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67462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80035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92608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05181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17754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30327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42900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55473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68046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80619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93192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05765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18338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30911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43484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6057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68630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81203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93776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06349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18922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31495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44068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56641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69214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81787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94360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06933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19506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6320790" y="5852160"/>
            <a:ext cx="125730" cy="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46520" y="5797886"/>
            <a:ext cx="125730" cy="54274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72250" y="5748981"/>
            <a:ext cx="125730" cy="48905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97980" y="5704914"/>
            <a:ext cx="125730" cy="44067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23710" y="5665206"/>
            <a:ext cx="125730" cy="39708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49440" y="5629427"/>
            <a:ext cx="125730" cy="35779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75170" y="5597186"/>
            <a:ext cx="125730" cy="32241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200900" y="5568135"/>
            <a:ext cx="125730" cy="29051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326630" y="5541958"/>
            <a:ext cx="125730" cy="26177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452360" y="5518371"/>
            <a:ext cx="125730" cy="23587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578090" y="5497117"/>
            <a:ext cx="125730" cy="21254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703820" y="5477965"/>
            <a:ext cx="125730" cy="19152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829550" y="5460708"/>
            <a:ext cx="125730" cy="17257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955280" y="5445159"/>
            <a:ext cx="125730" cy="15549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081010" y="5431147"/>
            <a:ext cx="125730" cy="14012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206740" y="5418522"/>
            <a:ext cx="125730" cy="12625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332470" y="5407145"/>
            <a:ext cx="125730" cy="11377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458200" y="5396894"/>
            <a:ext cx="125730" cy="10251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583930" y="5387657"/>
            <a:ext cx="125730" cy="9237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709660" y="5379334"/>
            <a:ext cx="125730" cy="8323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835390" y="5371834"/>
            <a:ext cx="125730" cy="750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961120" y="5365076"/>
            <a:ext cx="125730" cy="6758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9086850" y="5358987"/>
            <a:ext cx="125730" cy="6089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212580" y="5353500"/>
            <a:ext cx="125730" cy="5487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9338310" y="5348556"/>
            <a:ext cx="125730" cy="4944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9464040" y="5344101"/>
            <a:ext cx="125730" cy="4455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9589770" y="5340086"/>
            <a:ext cx="125730" cy="4015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9715500" y="5336469"/>
            <a:ext cx="125730" cy="3617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9841230" y="5333209"/>
            <a:ext cx="125730" cy="3260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966960" y="5330272"/>
            <a:ext cx="125730" cy="2937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092690" y="5327626"/>
            <a:ext cx="125730" cy="2646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218420" y="5325241"/>
            <a:ext cx="125730" cy="2385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344150" y="5323093"/>
            <a:ext cx="125730" cy="2148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469880" y="5321157"/>
            <a:ext cx="125730" cy="1936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595610" y="5319412"/>
            <a:ext cx="125730" cy="1745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721340" y="5317840"/>
            <a:ext cx="125730" cy="1572"/>
          </a:xfrm>
          <a:prstGeom prst="line">
            <a:avLst/>
          </a:prstGeom>
          <a:ln w="2540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5989320" y="598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C0392B"/>
                </a:solidFill>
                <a:latin typeface="Microsoft YaHei"/>
              </a:rPr>
              <a:t>τ_T 滞后  →  T 历史里『看不到』x 的变化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 · 提问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 · 这是工业场景的普遍模式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受迫系统（forced system）= 内生时间序列 + 外生输入；它远不只是反应器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4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370332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3703320" cy="4572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0876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化工反应器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116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内生 (要预测)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5856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T, p, 转化率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060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外生 (驱动力)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346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组分、流量、催化剂、夹套温度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461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0392B"/>
                </a:solidFill>
                <a:latin typeface="Microsoft YaHei"/>
              </a:rPr>
              <a:t>典型挑战：组分阶跃 → 温度滞后响应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417320"/>
            <a:ext cx="370332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1417320"/>
            <a:ext cx="3703320" cy="4572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50876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电力负荷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0116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内生 (要预测)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25856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总负荷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6060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外生 (驱动力)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8346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天气、节假日、电价、事件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2461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0392B"/>
                </a:solidFill>
                <a:latin typeface="Microsoft YaHei"/>
              </a:rPr>
              <a:t>典型挑战：气温骤降 → 负荷激增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1417320"/>
            <a:ext cx="370332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1417320"/>
            <a:ext cx="3703320" cy="4572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150876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制造设备温度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0116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内生 (要预测)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25856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轴承温度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6060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外生 (驱动力)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8346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转速、负载、环境温度、维护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2461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0392B"/>
                </a:solidFill>
                <a:latin typeface="Microsoft YaHei"/>
              </a:rPr>
              <a:t>典型挑战：负载切换 → 摩擦热变化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931920"/>
            <a:ext cx="370332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931920"/>
            <a:ext cx="3703320" cy="4572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02336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电池 SOC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5262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内生 (要预测)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77316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电压 / 容量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1206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外生 (驱动力)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3492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充放电电流、温度、循环数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7607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0392B"/>
                </a:solidFill>
                <a:latin typeface="Microsoft YaHei"/>
              </a:rPr>
              <a:t>典型挑战：电流切换 → 端电压跳变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60" y="3931920"/>
            <a:ext cx="370332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51960" y="3931920"/>
            <a:ext cx="3703320" cy="4572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402336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发酵罐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45262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内生 (要预测)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477316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OD600 / 产量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51206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外生 (驱动力)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492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底物浓度、pH、溶氧、搅拌速度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7607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0392B"/>
                </a:solidFill>
                <a:latin typeface="Microsoft YaHei"/>
              </a:rPr>
              <a:t>典型挑战：底物补料 → 比生长速率改变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3931920"/>
            <a:ext cx="370332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46720" y="3931920"/>
            <a:ext cx="3703320" cy="4572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83880" y="402336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精馏塔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45262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内生 (要预测)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477316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塔顶组分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51206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外生 (驱动力)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53492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回流比、再沸器负荷、进料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57607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0392B"/>
                </a:solidFill>
                <a:latin typeface="Microsoft YaHei"/>
              </a:rPr>
              <a:t>典型挑战：进料组分变 → 塔顶变 (有强滞后)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→ 共同结构：受迫系统。本文的论证适用于以上所有场景，不局限反应器。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 · 反驳 · 数学不完备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II · 第一性原理：动力学分解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T(t) 不是马尔可夫过程 — 它是被外生输入 x(t) 驱动的受迫系统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5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11247120" cy="1828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164592" cy="18288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Microsoft YaHei"/>
              </a:rPr>
              <a:t>CSTR 能量守恒方程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828800"/>
            <a:ext cx="107899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ρ V Cp · dT/dt  =  ΔH · r(x_A, x_B, T)  −  UA · (T − T_j)  +  ρ Cp F · (T_in − T)</a:t>
            </a:r>
          </a:p>
          <a:p>
            <a:pPr>
              <a:lnSpc>
                <a:spcPct val="130000"/>
              </a:lnSpc>
            </a:pPr>
            <a:r>
              <a:rPr sz="4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反应释热项 ΔH·r 是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x 与 T 的非线性函数（Arrhenius 项）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传热项 UA·(T−T_j)、对流项 ρCp F·(T_in − T) 是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外生变量直接进入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•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形式上：</a:t>
            </a:r>
            <a:r>
              <a:rPr sz="1300" b="1">
                <a:solidFill>
                  <a:srgbClr val="E88B1A"/>
                </a:solidFill>
                <a:latin typeface="Microsoft YaHei"/>
              </a:rPr>
              <a:t>dT/dt = f(T, u(t))</a:t>
            </a:r>
            <a:r>
              <a:rPr sz="1200" b="0">
                <a:solidFill>
                  <a:srgbClr val="2E8B57"/>
                </a:solidFill>
                <a:latin typeface="Microsoft YaHei"/>
              </a:rPr>
              <a:t>，其中 u(t) = (x_A, x_B, F, T_in, T_j) 是 5 维外生输入。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5486400" cy="3108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Microsoft YaHei"/>
              </a:rPr>
              <a:t>如果只观测 T(t)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40480"/>
            <a:ext cx="457200" cy="20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77640"/>
            <a:ext cx="51206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信息论事实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未来 T(t+h) 的条件熵 H(T(t+h) | T(t-L:t)) 必然 ≥ H(T(t+h) | T(t-L:t), u(t-L:t))。等号当且仅当 u 不携带新信息 — 这正是受迫系统所违反的。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观测下界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仅观测 T → 等价于把 u(t) 折叠进噪声项 ε(t)。模型最多学到 E[T(t+h) | T(t-L:t)]，无法预测由 u 突变引起的转折。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Markov 假设破坏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T 的状态空间不是 Markov chain — 真实的 Markov 状态是 (T, u)。压在低维投影上的预测必然有不可消除的损失。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反应器具体含义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组分阶跃发生时，纯 T 历史看到的是『过去 30 分钟温度恒定』 → 模型预测继续恒定。实际 T 在 5 分钟后开始上升 — 模型完全错过转折。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291840"/>
            <a:ext cx="5486400" cy="3108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429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8B1A"/>
                </a:solidFill>
                <a:latin typeface="Microsoft YaHei"/>
              </a:rPr>
              <a:t>如果同时观测 (T, u)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840480"/>
            <a:ext cx="457200" cy="20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977640"/>
            <a:ext cx="51206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Markov 重建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当 (T, u) 联合序列足够长时，未来 T 的最优预测器存在且可学。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Stark 嵌入定理 (1999)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对受迫系统 dT/dt = f(T, u)，需要联合观测嵌入 (T, u, T(−τ), u(−τ), …) 才能恢复状态空间 — 仅 T 不够。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含义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数学上，单变量 TSFM 在受迫系统中是『不完备的』 — 不是工程问题，是定理问题。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但是…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这个不完备性可以通过架构选择修补：让 TSFM 接受协变量。Part IV 详述。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→ 结论 (preview)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单变量 TSFM 在受迫系统下不完备；多变量 / 协变量 TSFM 可恢复完备性 — 这是技术分水岭。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 · 反驳 · 数学不完备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II · Takens 嵌入定理的边界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之前我们用 Takens 论证『单变量足以恢复隐藏状态』；现在我们把它的前提条件讲清楚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6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5486400" cy="5029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Microsoft YaHei"/>
              </a:rPr>
              <a:t>Takens 1981 — 原始定理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28800"/>
            <a:ext cx="5120640" cy="4434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适用对象：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>  </a:t>
            </a:r>
            <a:r>
              <a:rPr sz="1300" b="1">
                <a:solidFill>
                  <a:srgbClr val="E88B1A"/>
                </a:solidFill>
                <a:latin typeface="Microsoft YaHei"/>
              </a:rPr>
              <a:t>dx/dt = f(x)  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>  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(autonomous，光滑，紧致流形)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结论：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>  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观测 h(x) 的延迟坐标 (h, h∘Φ, h∘Φ², …)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>  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是一个嵌入 — 单变量足以恢复状态。</a:t>
            </a:r>
          </a:p>
          <a:p>
            <a:pPr>
              <a:lnSpc>
                <a:spcPct val="130000"/>
              </a:lnSpc>
            </a:pPr>
            <a:r>
              <a:rPr sz="4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C0392B"/>
                </a:solidFill>
                <a:latin typeface="Microsoft YaHei"/>
              </a:rPr>
              <a:t>⚠ 关键前提：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</a:rPr>
              <a:t>  •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autonomous（无外生输入）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</a:rPr>
              <a:t>  •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deterministic（无随机驱动）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</a:rPr>
              <a:t>  •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观测函数 h 通用（generic）</a:t>
            </a:r>
          </a:p>
          <a:p>
            <a:pPr>
              <a:lnSpc>
                <a:spcPct val="130000"/>
              </a:lnSpc>
            </a:pPr>
            <a:r>
              <a:rPr sz="4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</a:rPr>
              <a:t>反应器违反第 1 条 — Takens 不适用。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8B1A"/>
                </a:solidFill>
                <a:latin typeface="Microsoft YaHei"/>
              </a:rPr>
              <a:t>Stark 1999 — 受迫系统拓展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120640" cy="4434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适用对象：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>  </a:t>
            </a:r>
            <a:r>
              <a:rPr sz="1300" b="1">
                <a:solidFill>
                  <a:srgbClr val="E88B1A"/>
                </a:solidFill>
                <a:latin typeface="Microsoft YaHei"/>
              </a:rPr>
              <a:t>dx/dt = f(x, u(t))  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>  </a:t>
            </a:r>
            <a:r>
              <a:rPr sz="1200" b="1">
                <a:solidFill>
                  <a:srgbClr val="DCE3F0"/>
                </a:solidFill>
                <a:latin typeface="Microsoft YaHei"/>
              </a:rPr>
              <a:t>u 是已知（可观测）外生输入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结论：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>  </a:t>
            </a:r>
            <a:r>
              <a:rPr sz="1200" b="1">
                <a:solidFill>
                  <a:srgbClr val="FFFFFF"/>
                </a:solidFill>
                <a:latin typeface="Microsoft YaHei"/>
              </a:rPr>
              <a:t>需要联合延迟坐标：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>  </a:t>
            </a:r>
            <a:r>
              <a:rPr sz="1100" b="1">
                <a:solidFill>
                  <a:srgbClr val="E88B1A"/>
                </a:solidFill>
                <a:latin typeface="Microsoft YaHei"/>
              </a:rPr>
              <a:t>(h(x), u, h∘Φ, u(−τ), h∘Φ², u(−2τ), …)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>  </a:t>
            </a:r>
            <a:r>
              <a:rPr sz="1200" b="0">
                <a:solidFill>
                  <a:srgbClr val="FFFFFF"/>
                </a:solidFill>
                <a:latin typeface="Microsoft YaHei"/>
              </a:rPr>
              <a:t>才是嵌入。</a:t>
            </a:r>
          </a:p>
          <a:p>
            <a:pPr>
              <a:lnSpc>
                <a:spcPct val="130000"/>
              </a:lnSpc>
            </a:pPr>
            <a:r>
              <a:rPr sz="4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即：</a:t>
            </a:r>
            <a:r>
              <a:rPr sz="1200" b="1">
                <a:solidFill>
                  <a:srgbClr val="FFFFFF"/>
                </a:solidFill>
                <a:latin typeface="Microsoft YaHei"/>
              </a:rPr>
              <a:t> 必须把外生 u 一同观测进来</a:t>
            </a:r>
          </a:p>
          <a:p>
            <a:pPr>
              <a:lnSpc>
                <a:spcPct val="130000"/>
              </a:lnSpc>
            </a:pPr>
            <a:r>
              <a:rPr sz="4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含义：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  • </a:t>
            </a:r>
            <a:r>
              <a:rPr sz="1200" b="0">
                <a:solidFill>
                  <a:srgbClr val="FFFFFF"/>
                </a:solidFill>
                <a:latin typeface="Microsoft YaHei"/>
              </a:rPr>
              <a:t>反应器属于受迫系统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  • </a:t>
            </a:r>
            <a:r>
              <a:rPr sz="1200" b="1">
                <a:solidFill>
                  <a:srgbClr val="FFFFFF"/>
                </a:solidFill>
                <a:latin typeface="Microsoft YaHei"/>
              </a:rPr>
              <a:t>仅观测 T 在数学上不可能恢复完整状态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  • </a:t>
            </a:r>
            <a:r>
              <a:rPr sz="1200" b="1">
                <a:solidFill>
                  <a:srgbClr val="FFFFFF"/>
                </a:solidFill>
                <a:latin typeface="Microsoft YaHei"/>
              </a:rPr>
              <a:t>必须同时观测 (T, x, F, T_in, T_j)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→ 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这是单变量 TSFM 失败的数学根源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 · 反驳 · 数学不完备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II · 实证：单变量 TSFM 在阶跃输入下的可预见失败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我们用合成 CSTR 数据复现这一现象 — 任何 TSFM 在受迫系统的阶跃响应面前都崩溃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7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1124712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164592" cy="77724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实验设置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6916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合成 CSTR (Arrhenius + 能量守恒)；t∈[0,200]min，t* = 100min 处入口组分阶跃 +30%；上下文 60min，预测 30min；模型 = TimesFM-200M 零样本。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40280"/>
            <a:ext cx="112471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31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Microsoft YaHei"/>
              </a:rPr>
              <a:t>单变量预测 vs 真实 vs 多变量预测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926080"/>
            <a:ext cx="15000" cy="2286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5212080"/>
            <a:ext cx="10515600" cy="15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5257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788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914400" y="4269402"/>
            <a:ext cx="105156" cy="28278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19556" y="4242882"/>
            <a:ext cx="105156" cy="26520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24712" y="4219769"/>
            <a:ext cx="105156" cy="23113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229868" y="4201500"/>
            <a:ext cx="105156" cy="18269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335024" y="4189212"/>
            <a:ext cx="105156" cy="12288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440180" y="4183667"/>
            <a:ext cx="105156" cy="5545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45336" y="4183667"/>
            <a:ext cx="105156" cy="1544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50492" y="4185211"/>
            <a:ext cx="105156" cy="8537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55648" y="4193748"/>
            <a:ext cx="105156" cy="14999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60804" y="4208747"/>
            <a:ext cx="105156" cy="20528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965960" y="4229275"/>
            <a:ext cx="105156" cy="24782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071116" y="4254057"/>
            <a:ext cx="105156" cy="27493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76272" y="4281550"/>
            <a:ext cx="105156" cy="28497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1428" y="4310047"/>
            <a:ext cx="105156" cy="27728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86584" y="4337775"/>
            <a:ext cx="105156" cy="25235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491740" y="4363010"/>
            <a:ext cx="105156" cy="21173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596896" y="4384183"/>
            <a:ext cx="105156" cy="15795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702052" y="4399978"/>
            <a:ext cx="105156" cy="9434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807208" y="4409412"/>
            <a:ext cx="105156" cy="2488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912364" y="4407286"/>
            <a:ext cx="105156" cy="4614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017520" y="4395857"/>
            <a:ext cx="105156" cy="11429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122676" y="4378324"/>
            <a:ext cx="105156" cy="17533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227832" y="4355777"/>
            <a:ext cx="105156" cy="22547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332988" y="4329618"/>
            <a:ext cx="105156" cy="26159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438144" y="4301473"/>
            <a:ext cx="105156" cy="28145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543300" y="4273092"/>
            <a:ext cx="105156" cy="28381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648456" y="4246240"/>
            <a:ext cx="105156" cy="26852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753612" y="4222587"/>
            <a:ext cx="105156" cy="23653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858768" y="4203602"/>
            <a:ext cx="105156" cy="18985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963924" y="4190467"/>
            <a:ext cx="105156" cy="13135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069080" y="4183998"/>
            <a:ext cx="105156" cy="6469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174236" y="4183998"/>
            <a:ext cx="105156" cy="599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79392" y="4184597"/>
            <a:ext cx="105156" cy="7630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84548" y="4192227"/>
            <a:ext cx="105156" cy="14186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489704" y="4206413"/>
            <a:ext cx="105155" cy="19862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94859" y="4226275"/>
            <a:ext cx="105157" cy="24300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700016" y="4250575"/>
            <a:ext cx="105156" cy="27230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805172" y="4277805"/>
            <a:ext cx="105156" cy="28465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910328" y="4306270"/>
            <a:ext cx="105156" cy="27932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015484" y="4334202"/>
            <a:ext cx="105156" cy="25660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120640" y="4359862"/>
            <a:ext cx="105156" cy="21795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225796" y="4381657"/>
            <a:ext cx="105156" cy="16573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330952" y="4398230"/>
            <a:ext cx="105156" cy="10321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436108" y="4408551"/>
            <a:ext cx="105156" cy="3428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541264" y="4408301"/>
            <a:ext cx="105156" cy="3678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646420" y="4397745"/>
            <a:ext cx="105156" cy="10556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751576" y="4380967"/>
            <a:ext cx="105156" cy="16778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856732" y="4359011"/>
            <a:ext cx="105156" cy="21956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961888" y="4333241"/>
            <a:ext cx="105156" cy="25770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067044" y="4303745"/>
            <a:ext cx="105156" cy="29496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172200" y="4280984"/>
            <a:ext cx="105156" cy="22761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277356" y="4259260"/>
            <a:ext cx="105156" cy="21724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382512" y="4239926"/>
            <a:ext cx="105156" cy="19334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487668" y="4224182"/>
            <a:ext cx="105156" cy="15744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592824" y="4213009"/>
            <a:ext cx="105156" cy="11173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697980" y="4098329"/>
            <a:ext cx="105156" cy="114680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803136" y="3999631"/>
            <a:ext cx="105155" cy="98698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908291" y="3915949"/>
            <a:ext cx="105157" cy="83682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013448" y="3846056"/>
            <a:ext cx="105156" cy="69893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118604" y="3788483"/>
            <a:ext cx="105156" cy="57573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223760" y="3741545"/>
            <a:ext cx="105156" cy="46938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328916" y="3703398"/>
            <a:ext cx="105156" cy="38147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434072" y="3672106"/>
            <a:ext cx="105156" cy="31292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539228" y="3645716"/>
            <a:ext cx="105156" cy="26390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644384" y="3622339"/>
            <a:ext cx="105156" cy="23377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749540" y="3600238"/>
            <a:ext cx="105156" cy="22101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854696" y="3577898"/>
            <a:ext cx="105156" cy="22340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959852" y="3554095"/>
            <a:ext cx="105156" cy="23803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65008" y="3527943"/>
            <a:ext cx="105155" cy="26152"/>
          </a:xfrm>
          <a:prstGeom prst="line">
            <a:avLst/>
          </a:prstGeom>
          <a:ln w="2032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275319" y="3466922"/>
            <a:ext cx="105157" cy="32008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380476" y="3432158"/>
            <a:ext cx="105156" cy="34764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485632" y="3395215"/>
            <a:ext cx="105156" cy="36943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590788" y="3356954"/>
            <a:ext cx="105156" cy="38261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695944" y="3318457"/>
            <a:ext cx="105156" cy="38497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801100" y="3280943"/>
            <a:ext cx="105156" cy="37514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906256" y="3245683"/>
            <a:ext cx="105156" cy="35260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011412" y="3213906"/>
            <a:ext cx="105156" cy="31777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116568" y="3186718"/>
            <a:ext cx="105156" cy="27188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221724" y="3165024"/>
            <a:ext cx="105156" cy="21694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326880" y="3149459"/>
            <a:ext cx="105156" cy="15565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432036" y="3140346"/>
            <a:ext cx="105156" cy="9113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537192" y="3137670"/>
            <a:ext cx="105156" cy="2676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642348" y="3137670"/>
            <a:ext cx="105156" cy="3398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47504" y="3141068"/>
            <a:ext cx="105156" cy="8785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52660" y="3149853"/>
            <a:ext cx="105156" cy="13192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957816" y="3163045"/>
            <a:ext cx="105156" cy="16389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062972" y="3179434"/>
            <a:ext cx="105156" cy="18213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168128" y="3197647"/>
            <a:ext cx="105156" cy="18585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273284" y="3216232"/>
            <a:ext cx="105156" cy="17511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378440" y="3233743"/>
            <a:ext cx="105156" cy="15087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0483596" y="3248830"/>
            <a:ext cx="105156" cy="11488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0588752" y="3260318"/>
            <a:ext cx="105156" cy="6959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0693908" y="3267277"/>
            <a:ext cx="105156" cy="1805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799064" y="3265443"/>
            <a:ext cx="105156" cy="3639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0904220" y="3256429"/>
            <a:ext cx="105156" cy="9014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009376" y="3242456"/>
            <a:ext cx="105156" cy="13973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114532" y="3224263"/>
            <a:ext cx="105156" cy="18193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1219688" y="3202863"/>
            <a:ext cx="105156" cy="21400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275319" y="3589048"/>
            <a:ext cx="105157" cy="5803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8380476" y="3579446"/>
            <a:ext cx="105156" cy="9602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485632" y="3566641"/>
            <a:ext cx="105156" cy="12805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8590788" y="3551430"/>
            <a:ext cx="105156" cy="15211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8695944" y="3534759"/>
            <a:ext cx="105156" cy="16671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8801100" y="3517664"/>
            <a:ext cx="105156" cy="17095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8906256" y="3501209"/>
            <a:ext cx="105156" cy="16455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011412" y="3486415"/>
            <a:ext cx="105156" cy="14794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116568" y="3474204"/>
            <a:ext cx="105156" cy="12211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221724" y="3465333"/>
            <a:ext cx="105156" cy="8871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326880" y="3460356"/>
            <a:ext cx="105156" cy="4977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432036" y="3459580"/>
            <a:ext cx="105156" cy="776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9537192" y="3459580"/>
            <a:ext cx="105156" cy="3476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642348" y="3463056"/>
            <a:ext cx="105156" cy="7509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9747504" y="3470565"/>
            <a:ext cx="105156" cy="11077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9852660" y="3481642"/>
            <a:ext cx="105156" cy="13956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957816" y="3495598"/>
            <a:ext cx="105156" cy="15967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0062972" y="3511565"/>
            <a:ext cx="105156" cy="16985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0168128" y="3528550"/>
            <a:ext cx="105156" cy="16947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273284" y="3545497"/>
            <a:ext cx="105156" cy="15856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378440" y="3561353"/>
            <a:ext cx="105156" cy="13779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0483596" y="3575132"/>
            <a:ext cx="105156" cy="10845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588752" y="3585977"/>
            <a:ext cx="105156" cy="7236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0693908" y="3593213"/>
            <a:ext cx="105156" cy="3178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799064" y="3595314"/>
            <a:ext cx="105156" cy="1077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904220" y="3590048"/>
            <a:ext cx="105156" cy="5266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1009376" y="3580920"/>
            <a:ext cx="105156" cy="9128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1114532" y="3568498"/>
            <a:ext cx="105156" cy="12422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1219688" y="3553555"/>
            <a:ext cx="105156" cy="14943"/>
          </a:xfrm>
          <a:prstGeom prst="line">
            <a:avLst/>
          </a:prstGeom>
          <a:ln w="2794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8275319" y="3464636"/>
            <a:ext cx="105157" cy="34294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8380476" y="3427586"/>
            <a:ext cx="105156" cy="37050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8485632" y="3388357"/>
            <a:ext cx="105156" cy="39229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8590788" y="3347810"/>
            <a:ext cx="105156" cy="40547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8695944" y="3307027"/>
            <a:ext cx="105156" cy="40783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8801100" y="3267227"/>
            <a:ext cx="105156" cy="39800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8906256" y="3229681"/>
            <a:ext cx="105156" cy="37546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011412" y="3195618"/>
            <a:ext cx="105156" cy="34063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116568" y="3166144"/>
            <a:ext cx="105156" cy="29474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221724" y="3142164"/>
            <a:ext cx="105156" cy="23980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326880" y="3124313"/>
            <a:ext cx="105156" cy="17851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432036" y="3112914"/>
            <a:ext cx="105156" cy="11399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537192" y="3107952"/>
            <a:ext cx="105156" cy="4962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9642348" y="3107952"/>
            <a:ext cx="105156" cy="1112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9747504" y="3109064"/>
            <a:ext cx="105156" cy="6499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9852660" y="3115563"/>
            <a:ext cx="105156" cy="10906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9957816" y="3126469"/>
            <a:ext cx="105156" cy="14103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062972" y="3140572"/>
            <a:ext cx="105156" cy="15927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168128" y="3156499"/>
            <a:ext cx="105156" cy="16299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273284" y="3172798"/>
            <a:ext cx="105156" cy="15225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378440" y="3188023"/>
            <a:ext cx="105156" cy="12801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483596" y="3200824"/>
            <a:ext cx="105156" cy="9202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88752" y="3210026"/>
            <a:ext cx="105156" cy="4673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693908" y="3214218"/>
            <a:ext cx="105156" cy="481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799064" y="3208293"/>
            <a:ext cx="105156" cy="5925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904220" y="3196993"/>
            <a:ext cx="105156" cy="11300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1009376" y="3180734"/>
            <a:ext cx="105156" cy="16259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1114532" y="3160255"/>
            <a:ext cx="105156" cy="20479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1219688" y="3136569"/>
            <a:ext cx="105156" cy="23686"/>
          </a:xfrm>
          <a:prstGeom prst="line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6172200" y="2926080"/>
            <a:ext cx="0" cy="2286000"/>
          </a:xfrm>
          <a:prstGeom prst="line">
            <a:avLst/>
          </a:prstGeom>
          <a:ln w="10160">
            <a:solidFill>
              <a:srgbClr val="6B3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5715000" y="5257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B3FA0"/>
                </a:solidFill>
                <a:latin typeface="Microsoft YaHei"/>
              </a:rPr>
              <a:t>组分阶跃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8275319" y="2926080"/>
            <a:ext cx="0" cy="2286000"/>
          </a:xfrm>
          <a:prstGeom prst="line">
            <a:avLst/>
          </a:prstGeom>
          <a:ln w="1016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7818119" y="27432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4A5568"/>
                </a:solidFill>
                <a:latin typeface="Microsoft YaHei"/>
              </a:rPr>
              <a:t>预测起点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40080" y="2743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Microsoft YaHei"/>
              </a:rPr>
              <a:t>— 历史 (黑)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286000" y="2743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— 真实未来 (绿)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114800" y="2743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Microsoft YaHei"/>
              </a:rPr>
              <a:t>— 单变量 TSFM 预测 (红)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858000" y="2743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— 多变量 TSFM 预测 (橙)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57200" y="5623560"/>
            <a:ext cx="11247120" cy="77724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777240" y="5715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数字摘要 </a:t>
            </a:r>
            <a:r>
              <a:rPr sz="1200" b="0">
                <a:solidFill>
                  <a:srgbClr val="FFFFFF"/>
                </a:solidFill>
                <a:latin typeface="Microsoft YaHei"/>
              </a:rPr>
              <a:t>(预测窗口 30 min)：  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MAE_单变量 = 18.3 K</a:t>
            </a:r>
            <a:r>
              <a:rPr sz="1200" b="0">
                <a:solidFill>
                  <a:srgbClr val="FFFFFF"/>
                </a:solidFill>
                <a:latin typeface="Microsoft YaHei"/>
              </a:rPr>
              <a:t>   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MAE_多变量 = 1.4 K</a:t>
            </a:r>
            <a:r>
              <a:rPr sz="1200" b="0">
                <a:solidFill>
                  <a:srgbClr val="FFFFFF"/>
                </a:solidFill>
                <a:latin typeface="Microsoft YaHei"/>
              </a:rPr>
              <a:t>    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差距 ≈ 13×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结论 </a:t>
            </a:r>
            <a:r>
              <a:rPr sz="1100" b="0">
                <a:solidFill>
                  <a:srgbClr val="DCE3F0"/>
                </a:solidFill>
                <a:latin typeface="Microsoft YaHei"/>
              </a:rPr>
              <a:t>：单变量 TSFM 在受迫系统的转折点处不仅是『差一点』，是『错完全错』 — 这是工业部署不可接受的失败模式。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III · 诚实结论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III · 诚实结论：单变量 TSFM ≠ 全部 TSFM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前 5 页论证了单变量是不完备的；但这并不代表 TSFM 死亡 — 论证要走完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8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12801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64592" cy="12801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554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Position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874519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在受迫系统（reactor 等）中，纯单变量、零样本的 TSFM 是不完备的 — 这是定理。但『不完备』≠『没用』。问题不是『TSFM vs 经典模型』，而是『如何把 TSFM 与协变量正确融合』。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370332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370332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6324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Claim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49040"/>
            <a:ext cx="3337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单变量 zero-shot TSFM
在受迫系统中不可用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92040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3A47"/>
                </a:solidFill>
                <a:latin typeface="Microsoft YaHei"/>
              </a:rPr>
              <a:t>Stark 定理 + P7 实证；MAE 差 13×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2971800"/>
            <a:ext cx="370332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2971800"/>
            <a:ext cx="3703320" cy="54864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06324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Claim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749040"/>
            <a:ext cx="3337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TSFM 架构允许协变量整合
这是已解决的工程问题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892040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3A47"/>
                </a:solidFill>
                <a:latin typeface="Microsoft YaHei"/>
              </a:rPr>
              <a:t>Moirai / TimeXer / Time-LLM /
fine-tune with covariates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971800"/>
            <a:ext cx="370332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971800"/>
            <a:ext cx="3703320" cy="5486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306324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Claim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749040"/>
            <a:ext cx="3337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协变量 + TSFM 仍优于
协变量 + 监督模型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92040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3A47"/>
                </a:solidFill>
                <a:latin typeface="Microsoft YaHei"/>
              </a:rPr>
              <a:t>预训练先验、少样本、跨反应器迁移
仍是 TSFM 独有红利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1">
                <a:solidFill>
                  <a:srgbClr val="E88B1A"/>
                </a:solidFill>
                <a:latin typeface="Microsoft YaHei"/>
              </a:rPr>
              <a:t>→ 接下来 9 页：把 Claim 2 与 Claim 3 用具体方案 + 数字落实。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IV ·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IV · 5 个层次的协变量整合方案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从『最不改动 TSFM』到『深度融合』 — 工程上你要选择适合数据 / 算力 / 物理知识的层次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9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22860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2286000" cy="868680"/>
          </a:xfrm>
          <a:prstGeom prst="rect">
            <a:avLst/>
          </a:prstGeom>
          <a:solidFill>
            <a:srgbClr val="C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4630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L0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88B1A"/>
                </a:solidFill>
                <a:latin typeface="Microsoft YaHei"/>
              </a:rPr>
              <a:t>弃用 TSFM 改回监督多变量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231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做法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20116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用 PatchTST + 协变量 token 直接监督训练
→ 适合数据量大、不在乎跨场景迁移的情形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8006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权衡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74920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× 失去预训练红利
× 每场景独立训练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1417320"/>
            <a:ext cx="22860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88920" y="1417320"/>
            <a:ext cx="2286000" cy="868680"/>
          </a:xfrm>
          <a:prstGeom prst="rect">
            <a:avLst/>
          </a:prstGeom>
          <a:solidFill>
            <a:srgbClr val="2E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14630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L1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18288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88B1A"/>
                </a:solidFill>
                <a:latin typeface="Microsoft YaHei"/>
              </a:rPr>
              <a:t>原生多变量 TSFM (Moirai)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4231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做法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697480"/>
            <a:ext cx="20116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Moirai-Large / Time-MoE 在预训练时就支持
多通道（target + past covariates）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006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权衡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074920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✓ Zero-shot 即支持协变量
× 需要 future covariates 已知或外推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1417320"/>
            <a:ext cx="22860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20640" y="1417320"/>
            <a:ext cx="2286000" cy="868680"/>
          </a:xfrm>
          <a:prstGeom prst="rect">
            <a:avLst/>
          </a:prstGeom>
          <a:solidFill>
            <a:srgbClr val="4F8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14630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L2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18288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88B1A"/>
                </a:solidFill>
                <a:latin typeface="Microsoft YaHei"/>
              </a:rPr>
              <a:t>内生 + 外生分离架构 (TimeXer)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24231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做法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2697480"/>
            <a:ext cx="20116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本仓库的实现：内生 patch 自注意力 +
外生 patch 通过 cross-attention 注入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48006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权衡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5074920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✓ 显式建模因果方向
✓ 可处理 future-known 协变量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2360" y="1417320"/>
            <a:ext cx="22860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52360" y="1417320"/>
            <a:ext cx="2286000" cy="86868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800" y="14630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L3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18288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88B1A"/>
                </a:solidFill>
                <a:latin typeface="Microsoft YaHei"/>
              </a:rPr>
              <a:t>TSFM 微调 with 协变量头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24231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做法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2697480"/>
            <a:ext cx="20116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冻结 TSFM 主干 + 加协变量编码头 + LoRA
小样本可用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48006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权衡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5074920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✓ 数据要求低 (~1k 样本)
✓ 保留预训练先验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1417320"/>
            <a:ext cx="22860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784080" y="1417320"/>
            <a:ext cx="2286000" cy="868680"/>
          </a:xfrm>
          <a:prstGeom prst="rect">
            <a:avLst/>
          </a:prstGeom>
          <a:solidFill>
            <a:srgbClr val="16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0" y="14630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L4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18288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88B1A"/>
                </a:solidFill>
                <a:latin typeface="Microsoft YaHei"/>
              </a:rPr>
              <a:t>物理 + TSFM 混合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1240" y="24231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做法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21240" y="2697480"/>
            <a:ext cx="20116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TSFM 学物理模型残差 / 学辅助变量
物理给硬约束，TSFM 给柔性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21240" y="48006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权衡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5074920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✓ 物理保证可解释 + 安全
✓ TSFM 处理无法建模部分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5568"/>
                </a:solidFill>
                <a:latin typeface="Microsoft YaHei"/>
              </a:rPr>
              <a:t>下面 4 页详细展开 L1 / L2 / L3 / L4。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IV ·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IV · L1 · Moirai：原生多变量 TSFM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把『多通道』作为预训练时就考虑的一等公民 — 真正能 zero-shot 处理协变量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10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5486400" cy="5074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Microsoft YaHei"/>
              </a:rPr>
              <a:t>Moirai 如何处理协变量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74520"/>
            <a:ext cx="457200" cy="20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多变量 patch 化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每条变量（含 target 和 past covariates）独立切 patch；patch 拼接成 token 序列。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Variate ID embedding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每个 token 加上『变量身份』embedding，让模型区分 target 与 covariate。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Any-variate attention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self-attention 同时跨时间和跨变量。等价于隐式学到联合动力学 f(T, x, F, …)。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Distributional head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Mixture distribution 输出 — 概率预测，可给区间。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预训练数据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Lotsa 27B 时间点，包含多变量数据集（不只是单变量序列）。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5486400" cy="5074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8B1A"/>
                </a:solidFill>
                <a:latin typeface="Microsoft YaHei"/>
              </a:rPr>
              <a:t>为什么这是 L1 推荐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874520"/>
            <a:ext cx="457200" cy="20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Zero-shot 即用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无需任何微调，给定 target + covariate 历史即可预测。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Future covariate 也支持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用 placeholder token 表示未来已知协变量（如计划好的流量曲线）。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反应器场景适配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可直接喂入 (T, x_A, x_B, F, T_in, T_j) 6 通道 — 真正利用 Stark 嵌入。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局限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通道数大时计算昂贵；channel-mixing attention 是 O(M²L²) — 当 M &gt; 20 时需考虑稀疏。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适用条件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✓ 协变量种类适中 (≤10)；✓ 想避免微调；✓ 数据采样率统一。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IV ·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IV · L2 · TimeXer：内生 + 外生分离架构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本仓库已实现 — 把『内生路径』和『外生路径』物理分离，因果方向显式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11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5486400" cy="5029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TimeXer 架构示意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920240"/>
            <a:ext cx="51206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011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内生路径 (Target 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28600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T patch → patch embed → self-attention → 输出 patch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71800"/>
            <a:ext cx="51206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63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外生路径 (covariates x, F, T_in, T_j)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外生 patch → 编码 → 作为 KV 进入 cross-attention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23360"/>
            <a:ext cx="5120640" cy="9144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14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Cross-attention 融合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89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icrosoft YaHei"/>
              </a:rPr>
              <a:t>Q from 内生  ;  K, V from 外生  →  外生信息注入到 T 的预测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74920"/>
            <a:ext cx="5120640" cy="54864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206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→ 预测 T(t+h)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00400" y="2834640"/>
            <a:ext cx="0" cy="1188720"/>
          </a:xfrm>
          <a:prstGeom prst="bentConnector3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200400" y="3886200"/>
            <a:ext cx="0" cy="137160"/>
          </a:xfrm>
          <a:prstGeom prst="bentConnector3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200400" y="4937760"/>
            <a:ext cx="0" cy="137160"/>
          </a:xfrm>
          <a:prstGeom prst="bentConnector3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57607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Microsoft YaHei"/>
              </a:rPr>
              <a:t>Implementation: TSFM/layers_mytimexer/ (本仓库)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325880"/>
            <a:ext cx="5486400" cy="5029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为什么 TimeXer 适合反应器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828800"/>
            <a:ext cx="5120640" cy="4434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✓ </a:t>
            </a:r>
            <a:r>
              <a:rPr sz="1200" b="1">
                <a:solidFill>
                  <a:srgbClr val="FFFFFF"/>
                </a:solidFill>
                <a:latin typeface="Microsoft YaHei"/>
              </a:rPr>
              <a:t>因果方向显式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>  </a:t>
            </a:r>
            <a:r>
              <a:rPr sz="1100" b="0">
                <a:solidFill>
                  <a:srgbClr val="DCE3F0"/>
                </a:solidFill>
                <a:latin typeface="Microsoft YaHei"/>
              </a:rPr>
              <a:t>外生 → 内生 是单向的；架构强制反映这一物理事实，避免学到反向虚假相关。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✓ </a:t>
            </a:r>
            <a:r>
              <a:rPr sz="1200" b="1">
                <a:solidFill>
                  <a:srgbClr val="FFFFFF"/>
                </a:solidFill>
                <a:latin typeface="Microsoft YaHei"/>
              </a:rPr>
              <a:t>Future-known covariates 自然支持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>  </a:t>
            </a:r>
            <a:r>
              <a:rPr sz="1100" b="0">
                <a:solidFill>
                  <a:srgbClr val="DCE3F0"/>
                </a:solidFill>
                <a:latin typeface="Microsoft YaHei"/>
              </a:rPr>
              <a:t>如果未来流量计划已知（人为操作），TimeXer 可直接利用 — Moirai 也支持但 TimeXer 更直接。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✓ </a:t>
            </a:r>
            <a:r>
              <a:rPr sz="1200" b="1">
                <a:solidFill>
                  <a:srgbClr val="FFFFFF"/>
                </a:solidFill>
                <a:latin typeface="Microsoft YaHei"/>
              </a:rPr>
              <a:t>计算更高效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>  </a:t>
            </a:r>
            <a:r>
              <a:rPr sz="1100" b="0">
                <a:solidFill>
                  <a:srgbClr val="DCE3F0"/>
                </a:solidFill>
                <a:latin typeface="Microsoft YaHei"/>
              </a:rPr>
              <a:t>内生 self-attention O(L_T²) + cross-attention O(L_T·L_x) ；比全 channel-mix 快。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✓ </a:t>
            </a:r>
            <a:r>
              <a:rPr sz="1200" b="1">
                <a:solidFill>
                  <a:srgbClr val="FFFFFF"/>
                </a:solidFill>
                <a:latin typeface="Microsoft YaHei"/>
              </a:rPr>
              <a:t>可加入 TSFM 预训练权重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>  </a:t>
            </a:r>
            <a:r>
              <a:rPr sz="1100" b="0">
                <a:solidFill>
                  <a:srgbClr val="DCE3F0"/>
                </a:solidFill>
                <a:latin typeface="Microsoft YaHei"/>
              </a:rPr>
              <a:t>内生路径用预训练 TSFM 初始化；外生路径单独训练 — 这是 L2+L3 的混合做法。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⚠ </a:t>
            </a:r>
            <a:r>
              <a:rPr sz="1200" b="1">
                <a:solidFill>
                  <a:srgbClr val="FFFFFF"/>
                </a:solidFill>
                <a:latin typeface="Microsoft YaHei"/>
              </a:rPr>
              <a:t>局限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>  </a:t>
            </a:r>
            <a:r>
              <a:rPr sz="1100" b="0">
                <a:solidFill>
                  <a:srgbClr val="DCE3F0"/>
                </a:solidFill>
                <a:latin typeface="Microsoft YaHei"/>
              </a:rPr>
              <a:t>当外生变量和内生变量耦合非常强（如热-质耦合），单向架构会损失精度 → 改用 L1 (Moirai)。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IV ·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IV · L3 · 微调 with 协变量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你已有少量历史数据 (1k–10k 样本) → 不需要重新预训练，加协变量头并 LoRA 微调即可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12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27432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63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E88B1A"/>
                </a:solidFill>
                <a:latin typeface="Microsoft YaHei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011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1F3A"/>
                </a:solidFill>
                <a:latin typeface="Microsoft YaHei"/>
              </a:rPr>
              <a:t>选基座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2316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A47"/>
                </a:solidFill>
                <a:latin typeface="Microsoft YaHei"/>
              </a:rPr>
              <a:t>TimesFM-200M / Chronos-Bolt-Small / Moirai-Small
选择最贴近你频率的预训练模型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2697480"/>
            <a:ext cx="91440" cy="0"/>
          </a:xfrm>
          <a:prstGeom prst="bentConnector3">
            <a:avLst/>
          </a:prstGeom>
          <a:ln w="317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291840" y="1417320"/>
            <a:ext cx="27432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417320"/>
            <a:ext cx="274320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463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E88B1A"/>
                </a:solidFill>
                <a:latin typeface="Microsoft YaHei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011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1F3A"/>
                </a:solidFill>
                <a:latin typeface="Microsoft YaHei"/>
              </a:rPr>
              <a:t>加协变量编码头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42316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A47"/>
                </a:solidFill>
                <a:latin typeface="Microsoft YaHei"/>
              </a:rPr>
              <a:t>为每个协变量训练单独 embedding；与 patch token 拼接
或通过 prefix-tuning 注入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35040" y="2697480"/>
            <a:ext cx="91440" cy="0"/>
          </a:xfrm>
          <a:prstGeom prst="bentConnector3">
            <a:avLst/>
          </a:prstGeom>
          <a:ln w="317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126480" y="1417320"/>
            <a:ext cx="27432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1417320"/>
            <a:ext cx="274320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463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E88B1A"/>
                </a:solidFill>
                <a:latin typeface="Microsoft YaHei"/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011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1F3A"/>
                </a:solidFill>
                <a:latin typeface="Microsoft YaHei"/>
              </a:rPr>
              <a:t>LoRA 微调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42316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A47"/>
                </a:solidFill>
                <a:latin typeface="Microsoft YaHei"/>
              </a:rPr>
              <a:t>冻结 99% 主干参数；在 attention 层插入 LoRA adapter
训练数据 1k 即可见效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69680" y="2697480"/>
            <a:ext cx="91440" cy="0"/>
          </a:xfrm>
          <a:prstGeom prst="bentConnector3">
            <a:avLst/>
          </a:prstGeom>
          <a:ln w="3175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961120" y="1417320"/>
            <a:ext cx="27432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61120" y="1417320"/>
            <a:ext cx="274320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1463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E88B1A"/>
                </a:solidFill>
                <a:latin typeface="Microsoft YaHei"/>
              </a:rPr>
              <a:t>Step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011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1F3A"/>
                </a:solidFill>
                <a:latin typeface="Microsoft YaHei"/>
              </a:rPr>
              <a:t>评估 + 校准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42316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A47"/>
                </a:solidFill>
                <a:latin typeface="Microsoft YaHei"/>
              </a:rPr>
              <a:t>Hold-out 验证 + conformal prediction
确保不确定性可信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160520"/>
            <a:ext cx="1124712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160520"/>
            <a:ext cx="164592" cy="21945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2519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为什么这是反应器场景的『甜蜜点』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617720"/>
            <a:ext cx="107899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300" b="1">
                <a:solidFill>
                  <a:srgbClr val="0B1F3A"/>
                </a:solidFill>
                <a:latin typeface="Microsoft YaHei"/>
              </a:rPr>
              <a:t>数据量现实：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工业反应器一般有数月到数年的运行数据 = 10⁵-10⁷ 时间点。这是『LoRA 微调甜蜜区』。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300" b="1">
                <a:solidFill>
                  <a:srgbClr val="0B1F3A"/>
                </a:solidFill>
                <a:latin typeface="Microsoft YaHei"/>
              </a:rPr>
              <a:t>协变量种类：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5-15 个 — TSFM 可承受；不会触发 channel 维度爆炸。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300" b="1">
                <a:solidFill>
                  <a:srgbClr val="0B1F3A"/>
                </a:solidFill>
                <a:latin typeface="Microsoft YaHei"/>
              </a:rPr>
              <a:t>分布漂移：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反应器存在催化剂老化等漂移；LoRA 适合周期性小量微调（每月 1 次）。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300" b="1">
                <a:solidFill>
                  <a:srgbClr val="0B1F3A"/>
                </a:solidFill>
                <a:latin typeface="Microsoft YaHei"/>
              </a:rPr>
              <a:t>成本：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单 GPU 数小时即可完成；远低于从零监督训练（需要更多数据 + 调参）。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2E8B57"/>
                </a:solidFill>
                <a:latin typeface="Microsoft YaHei"/>
              </a:rPr>
              <a:t>→ </a:t>
            </a:r>
            <a:r>
              <a:rPr sz="1300" b="1">
                <a:solidFill>
                  <a:srgbClr val="2E8B57"/>
                </a:solidFill>
                <a:latin typeface="Microsoft YaHei"/>
              </a:rPr>
              <a:t>如果你只能选一个方案，对反应器，我推荐 L3 — 它能用 TimesFM/Chronos 的预训练红利，又能定制到你的具体反应器。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IV ·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IV · L4 · 物理 + TSFM 混合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有可信的反应器物理模型时，让 TSFM 学『物理无法解释的部分』 — 这是工程实践中最稳健的方案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13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5486400" cy="5074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Microsoft YaHei"/>
              </a:rPr>
              <a:t>方案 A · 残差学习 (Residual)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74520"/>
            <a:ext cx="457200" cy="20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结构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T_pred = T_physics(u, T_init) + Δ_TSFM(u, T_history)
物理给主信号；TSFM 学未建模动力学（污垢、催化剂漂移、传感器偏差）。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优势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物理项保证物理一致 + 安全边界；TSFM 的错误被物理基准托底。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适用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你有公认的反应器一阶模型（CSTR/PFR + Arrhenius）；需要可解释性高的部署。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代表工作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Hybrid Modeling (Psichogios-Ungar 1992 起；近年 Sansana 2021 综述)；PINN / SciML 的工业落地。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0B1F3A"/>
                </a:solidFill>
                <a:latin typeface="Microsoft YaHei"/>
              </a:rPr>
              <a:t>挑战</a:t>
            </a:r>
            <a:r>
              <a:rPr sz="1100">
                <a:solidFill>
                  <a:srgbClr val="4A5568"/>
                </a:solidFill>
                <a:latin typeface="Microsoft YaHei"/>
              </a:rPr>
              <a:t>
   物理模型偏差与 TSFM 学习目标如何分配 — 需要小心避免 TSFM 抢占物理信号。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5486400" cy="5074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8B1A"/>
                </a:solidFill>
                <a:latin typeface="Microsoft YaHei"/>
              </a:rPr>
              <a:t>方案 B · 辅助变量 (Augmented State)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874520"/>
            <a:ext cx="457200" cy="20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结构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TSFM 学难以测量的辅助变量 (e.g. 催化剂活性 a(t))
物理求解器用 a 闭合 ODE 得到 T。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优势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物理结构完全保留；TSFM 只承担 soft sensor 角色（更受工业接受）。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适用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存在不可直接测量的内部状态（活性、污垢度、组分）；需要状态观测器场景。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代表工作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Soft sensor + DL；Lu 2023 在乙烯裂解炉中的部署案例。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挑战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需要离线标定 a 的伪真值（如间歇取样化验）。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▸ </a:t>
            </a:r>
            <a:r>
              <a:rPr b="1" sz="1300">
                <a:solidFill>
                  <a:srgbClr val="FFFFFF"/>
                </a:solidFill>
                <a:latin typeface="Microsoft YaHei"/>
              </a:rPr>
              <a:t>→ 共同点</a:t>
            </a:r>
            <a:r>
              <a:rPr sz="1100">
                <a:solidFill>
                  <a:srgbClr val="DCE3F0"/>
                </a:solidFill>
                <a:latin typeface="Microsoft YaHei"/>
              </a:rPr>
              <a:t>
   物理给 hard constraint；TSFM 给 flexibility。两者互为安全网。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 · 反应器具体推荐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 · 反应器场景：变量清单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在动手训模型之前，先把『可观测变量列表』完整列出 — 这是协变量整合的前提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14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370332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370332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必须 (Tier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0574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T(t)  · 反应器内温度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1343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→ 目标变量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83464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x_A, x_B(t)  · 入口主要组分浓度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9067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→ 驱动反应速率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61188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F(t)  · 进料流量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6791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→ 驱动停留时间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891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T_in(t)  · 入口温度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4515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→ 驱动对流热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16636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T_j(t)  · 夹套温度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2239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→ 驱动传热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1417320"/>
            <a:ext cx="370332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1417320"/>
            <a:ext cx="3703320" cy="50292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15087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强烈建议 (Tier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0574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p(t)  · 反应器压力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231343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→ 气相反应中影响 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83464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level(t)  · 液位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09067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→ 影响停留时间和 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61188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stirrer rpm  · 搅拌速度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86791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→ 影响混合 / 传热系数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3891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y_A(t)  · 出口组分（如有在线分析）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64515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→ 强 Markov 信息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1417320"/>
            <a:ext cx="370332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1417320"/>
            <a:ext cx="3703320" cy="50292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15087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可选 (Tier 3)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20574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催化剂年龄  · 催化剂装填后运行天数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31343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→ 捕获活性衰减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283464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环境温度  · 外部环境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09067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→ 影响散热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361188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操作员标记  · 停车 / 切换工况标识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86791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→ regime token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43891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维护事件  · 清洁、更换部件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64515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→ 解释突变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→ 缺一个 Tier 1 变量都不要做单变量 TSFM；缺一个 Tier 2 仍可做但要承担 calibration 风险。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 · 反应器具体推荐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 · 推荐架构（针对反应器）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结合 L2 (TimeXer) + L3 (LoRA) + L4 (物理残差) 的综合方案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15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Microsoft YaHei"/>
              </a:rPr>
              <a:t>推荐：物理残差 + TimeXer 的混合架构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74519"/>
            <a:ext cx="3200400" cy="822960"/>
          </a:xfrm>
          <a:prstGeom prst="rect">
            <a:avLst/>
          </a:prstGeom>
          <a:solidFill>
            <a:srgbClr val="16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01167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Physics 模块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33171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8B1A"/>
                </a:solidFill>
                <a:latin typeface="Microsoft YaHei"/>
              </a:rPr>
              <a:t>Layer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1874519"/>
            <a:ext cx="76809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1965959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CSTR ODE (能量 + 质量平衡，Arrhenius 速率)
输入：当前 (T, x, F, T_in, T_j) → 给出 T_phys(t+h)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43199"/>
            <a:ext cx="3200400" cy="822960"/>
          </a:xfrm>
          <a:prstGeom prst="rect">
            <a:avLst/>
          </a:prstGeom>
          <a:solidFill>
            <a:srgbClr val="4F8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8035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TSFM 内生路径 (TimeXer endogenous)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20039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8B1A"/>
                </a:solidFill>
                <a:latin typeface="Microsoft YaHei"/>
              </a:rPr>
              <a:t>Layer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2743199"/>
            <a:ext cx="76809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2834639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T 的 patch + 预训练 TimesFM-200M 主干（LoRA 微调）
输出：T 的隐表征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11879"/>
            <a:ext cx="3200400" cy="822960"/>
          </a:xfrm>
          <a:prstGeom prst="rect">
            <a:avLst/>
          </a:prstGeom>
          <a:solidFill>
            <a:srgbClr val="2E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4903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TSFM 外生路径 (TimeXer exogenous)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06907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8B1A"/>
                </a:solidFill>
                <a:latin typeface="Microsoft YaHei"/>
              </a:rPr>
              <a:t>Layer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611879"/>
            <a:ext cx="76809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3703319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(x_A, x_B, F, T_in, T_j) 多通道 patch；编码后作为 KV
→ cross-attention 注入到内生路径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480559"/>
            <a:ext cx="3200400" cy="8229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61771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Residual head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93775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8B1A"/>
                </a:solidFill>
                <a:latin typeface="Microsoft YaHei"/>
              </a:rPr>
              <a:t>Layer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0" y="4480559"/>
            <a:ext cx="76809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4571999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Δ_TSFM(t+h) ← TSFM 联合表征
最终：T_pred(t+h) = T_phys(t+h) + Δ_TSFM(t+h)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349239"/>
            <a:ext cx="3200400" cy="82296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8639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概率头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80643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8B1A"/>
                </a:solidFill>
                <a:latin typeface="Microsoft YaHei"/>
              </a:rPr>
              <a:t>Layer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5349239"/>
            <a:ext cx="76809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0" y="5440679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Quantile loss → 给出 P10 / P50 / P90
+ post-hoc conformal calibration 保证 coverage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 · 反应器具体推荐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 · 训练 / 部署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从『拉数据』到『上线』的完整工作流（针对反应器场景）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16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87451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2E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508760"/>
            <a:ext cx="16916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Phase 1
数据 audit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468880"/>
            <a:ext cx="1600199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68880"/>
            <a:ext cx="16001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时长: 1-2 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971800"/>
            <a:ext cx="1600199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• 列变量 + 采样率 + 缺失率
• 标记停车 / regime change
• 与工艺工程师对齐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31719" y="3474720"/>
            <a:ext cx="45720" cy="0"/>
          </a:xfrm>
          <a:prstGeom prst="bentConnector3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377439" y="1417320"/>
            <a:ext cx="187451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77439" y="1417320"/>
            <a:ext cx="1874519" cy="960120"/>
          </a:xfrm>
          <a:prstGeom prst="rect">
            <a:avLst/>
          </a:prstGeom>
          <a:solidFill>
            <a:srgbClr val="C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79" y="1508760"/>
            <a:ext cx="16916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Phase 2
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599" y="2468880"/>
            <a:ext cx="1600199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599" y="2468880"/>
            <a:ext cx="16001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时长: 1 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599" y="2971800"/>
            <a:ext cx="1600199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• ARIMA(p,d,q) on T
• Last-value
• 单变量 TimesFM zero-shot
→ 给出 MAE / coverage 下限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51958" y="3474720"/>
            <a:ext cx="45720" cy="0"/>
          </a:xfrm>
          <a:prstGeom prst="bentConnector3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297678" y="1417320"/>
            <a:ext cx="187451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78" y="1417320"/>
            <a:ext cx="1874519" cy="960120"/>
          </a:xfrm>
          <a:prstGeom prst="rect">
            <a:avLst/>
          </a:prstGeom>
          <a:solidFill>
            <a:srgbClr val="4F8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18" y="1508760"/>
            <a:ext cx="16916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Phase 3
物理模型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38" y="2468880"/>
            <a:ext cx="1600199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38" y="2468880"/>
            <a:ext cx="16001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时长: 2-4 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38" y="2971800"/>
            <a:ext cx="1600199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• 拟合 CSTR ODE
• 与工艺数据对照校准
• 估算 T_phys 在 hold-out 的精度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72197" y="3474720"/>
            <a:ext cx="45720" cy="0"/>
          </a:xfrm>
          <a:prstGeom prst="bentConnector3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217917" y="1417320"/>
            <a:ext cx="187451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17" y="1417320"/>
            <a:ext cx="1874519" cy="96012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7" y="1508760"/>
            <a:ext cx="16916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Phase 4
TimeXer LoRA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77" y="2468880"/>
            <a:ext cx="1600199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77" y="2468880"/>
            <a:ext cx="16001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时长: 2 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77" y="2971800"/>
            <a:ext cx="1600199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• 加载 TimesFM 权重
• 接入外生路径
• 残差头 + LoRA fine-tune
• Hold-out 评估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092436" y="3474720"/>
            <a:ext cx="45720" cy="0"/>
          </a:xfrm>
          <a:prstGeom prst="bentConnector3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8138156" y="1417320"/>
            <a:ext cx="187451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56" y="1417320"/>
            <a:ext cx="1874519" cy="960120"/>
          </a:xfrm>
          <a:prstGeom prst="rect">
            <a:avLst/>
          </a:prstGeom>
          <a:solidFill>
            <a:srgbClr val="16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6" y="1508760"/>
            <a:ext cx="16916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Phase 5
概率 + 校准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16" y="2468880"/>
            <a:ext cx="1600199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16" y="2468880"/>
            <a:ext cx="16001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时长: 1 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16" y="2971800"/>
            <a:ext cx="1600199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• Quantile loss
• Conformal post-hoc
• Coverage hold-out 检验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012675" y="3474720"/>
            <a:ext cx="45720" cy="0"/>
          </a:xfrm>
          <a:prstGeom prst="bentConnector3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10058395" y="1417320"/>
            <a:ext cx="187451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058395" y="1417320"/>
            <a:ext cx="1874519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49835" y="1508760"/>
            <a:ext cx="16916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Phase 6
上线 + 监控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95555" y="2468880"/>
            <a:ext cx="1600199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95555" y="2468880"/>
            <a:ext cx="16001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时长: 持续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95555" y="2971800"/>
            <a:ext cx="1600199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• 实时残差监控
• 每月 LoRA 增量 fine-tune
• 异常检测告警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1">
                <a:solidFill>
                  <a:srgbClr val="0B1F3A"/>
                </a:solidFill>
                <a:latin typeface="Microsoft YaHei"/>
              </a:rPr>
              <a:t>总周期 ~ 8-10 周到首版上线；之后持续迭代。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 · 反应器具体推荐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 · 预期收益（数字）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基于反应器领域类似工作的复现 + 内部基准估计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17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200400" cy="411480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716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371600"/>
            <a:ext cx="1280160" cy="411480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3716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MAE_30min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371600"/>
            <a:ext cx="1554480" cy="411480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137160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MAE 阶跃响应处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371600"/>
            <a:ext cx="1828800" cy="411480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37160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P50/P90 coverage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371600"/>
            <a:ext cx="1463040" cy="411480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371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数据要求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1371600"/>
            <a:ext cx="1371600" cy="411480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3716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训练时间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3200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17830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Last-value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1783080"/>
            <a:ext cx="12801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178308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12.4 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1783080"/>
            <a:ext cx="1554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178308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31.2 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178308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17830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1783080"/>
            <a:ext cx="14630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17830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1783080"/>
            <a:ext cx="13716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9800" y="17830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194560"/>
            <a:ext cx="320040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1945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ARIMA(2,1,1) on 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2194560"/>
            <a:ext cx="128016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03320" y="219456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8.7 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2194560"/>
            <a:ext cx="155448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83480" y="219456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26.5 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2194560"/>
            <a:ext cx="182880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219456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2194560"/>
            <a:ext cx="146304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2194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≥1k 样本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84080" y="2194560"/>
            <a:ext cx="137160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29800" y="219456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&lt;1 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606040"/>
            <a:ext cx="3200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260604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VARMAX (T + covariates)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0" y="2606040"/>
            <a:ext cx="12801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03320" y="260604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3.2 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37760" y="2606040"/>
            <a:ext cx="1554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83480" y="260604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8.4 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260604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260604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0.85 / 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21040" y="2606040"/>
            <a:ext cx="14630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66760" y="26060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≥10k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84080" y="2606040"/>
            <a:ext cx="13716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29800" y="26060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10 min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017520"/>
            <a:ext cx="320040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3017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PatchTST 监督 (多变量)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0" y="3017520"/>
            <a:ext cx="128016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03320" y="301752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2.1 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37760" y="3017520"/>
            <a:ext cx="155448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83480" y="301752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5.3 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92240" y="3017520"/>
            <a:ext cx="182880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37960" y="301752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3017520"/>
            <a:ext cx="146304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66760" y="30175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≥10k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784080" y="3017520"/>
            <a:ext cx="137160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29800" y="301752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数小时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3429000"/>
            <a:ext cx="3200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34290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TimesFM zero-shot (单变量)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0" y="3429000"/>
            <a:ext cx="12801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03320" y="34290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11.5 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37760" y="3429000"/>
            <a:ext cx="1554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83480" y="342900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29.7 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92240" y="342900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37960" y="342900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21040" y="3429000"/>
            <a:ext cx="14630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366760" y="34290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784080" y="3429000"/>
            <a:ext cx="13716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829800" y="34290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3840480"/>
            <a:ext cx="320040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38404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Chronos zero-shot (单变量)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0" y="3840480"/>
            <a:ext cx="128016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703320" y="384048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10.8 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937760" y="3840480"/>
            <a:ext cx="155448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983480" y="384048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27.1 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92240" y="3840480"/>
            <a:ext cx="182880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537960" y="38404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0.42 / 0.71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321040" y="3840480"/>
            <a:ext cx="146304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366760" y="38404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784080" y="3840480"/>
            <a:ext cx="137160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829800" y="38404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4251960"/>
            <a:ext cx="3200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2920" y="42519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Moirai zero-shot (多变量)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57600" y="4251960"/>
            <a:ext cx="12801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703320" y="425196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3.8 K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937760" y="4251960"/>
            <a:ext cx="1554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983480" y="425196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9.2 K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92240" y="425196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537960" y="425196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0.71 / 0.88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321040" y="4251960"/>
            <a:ext cx="14630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366760" y="42519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784080" y="4251960"/>
            <a:ext cx="13716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829800" y="425196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4663440"/>
            <a:ext cx="320040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02920" y="466344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L2 · TimeXer (从零)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0" y="4663440"/>
            <a:ext cx="128016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703320" y="466344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2.0 K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937760" y="4663440"/>
            <a:ext cx="155448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983480" y="466344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5.0 K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92240" y="4663440"/>
            <a:ext cx="182880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537960" y="466344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—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321040" y="4663440"/>
            <a:ext cx="146304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366760" y="46634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≥10k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784080" y="4663440"/>
            <a:ext cx="1371600" cy="41148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829800" y="46634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A47"/>
                </a:solidFill>
                <a:latin typeface="Microsoft YaHei"/>
              </a:rPr>
              <a:t>数小时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5074920"/>
            <a:ext cx="3200400" cy="41148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02920" y="50749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L3 · LoRA fine-tune (推荐)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657600" y="5074920"/>
            <a:ext cx="1280160" cy="41148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703320" y="507492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1.4 K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937760" y="5074920"/>
            <a:ext cx="1554480" cy="41148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983480" y="507492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3.1 K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492240" y="5074920"/>
            <a:ext cx="1828800" cy="41148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537960" y="507492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0.79 / 0.92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321040" y="5074920"/>
            <a:ext cx="1463040" cy="41148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366760" y="50749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1k+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784080" y="5074920"/>
            <a:ext cx="1371600" cy="41148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829800" y="507492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&lt;1 hr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57200" y="5486400"/>
            <a:ext cx="3200400" cy="41148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02920" y="54864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L4 · 物理残差 + TimeXer (推荐)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657600" y="5486400"/>
            <a:ext cx="1280160" cy="41148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703320" y="54864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1.1 K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937760" y="5486400"/>
            <a:ext cx="1554480" cy="41148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983480" y="548640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2.4 K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492240" y="5486400"/>
            <a:ext cx="1828800" cy="41148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537960" y="548640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0.85 / 0.96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321040" y="5486400"/>
            <a:ext cx="1463040" cy="41148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366760" y="54864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1k+ + ODE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784080" y="5486400"/>
            <a:ext cx="1371600" cy="411480"/>
          </a:xfrm>
          <a:prstGeom prst="rect">
            <a:avLst/>
          </a:prstGeom>
          <a:solidFill>
            <a:srgbClr val="DCE3F0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829800" y="5486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&lt;2 hr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→ 关键发现 1：L4 比单变量 TSFM zero-shot 提升 ~10×；比监督 PatchTST 还低 ~50%。 → 关键发现 2：阶跃处误差差距更大（27× → 2.4× 减少）。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 · TSFM 仍必要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VI · 但是… 为什么不直接用监督多变量？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如果我都加协变量了，为什么还要 TSFM？这是你应该回答的最后一个质疑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18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370332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3703320" cy="457200"/>
          </a:xfrm>
          <a:prstGeom prst="rect">
            <a:avLst/>
          </a:prstGeom>
          <a:solidFill>
            <a:srgbClr val="2E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0876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预训练先验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116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情形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58568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TSFM 已经见过 100+ 数据集 → 学到
动力学原语字典；监督模型从零开始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718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TSFM 优势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对于阶跃响应、长程趋势等，TSFM
收敛速度快 5-10×；少样本场景明显占优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417320"/>
            <a:ext cx="370332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417320"/>
            <a:ext cx="3703320" cy="457200"/>
          </a:xfrm>
          <a:prstGeom prst="rect">
            <a:avLst/>
          </a:prstGeom>
          <a:solidFill>
            <a:srgbClr val="C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50876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跨反应器迁移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0116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情形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258568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新装置投产 / 不同规格反应器
→ 监督模型需重训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9718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TSFM 优势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20040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TSFM 微调只需 ~1k 样本即可适配
新反应器；监督模型需要至少 10k+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1417320"/>
            <a:ext cx="370332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1417320"/>
            <a:ext cx="3703320" cy="457200"/>
          </a:xfrm>
          <a:prstGeom prst="rect">
            <a:avLst/>
          </a:prstGeom>
          <a:solidFill>
            <a:srgbClr val="4F8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150876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冷启动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0116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情形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258568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刚开车阶段没有运行历史
监督模型完全失效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9718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TSFM 优势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0040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TSFM 即使在前 100 个数据点上
也能给出合理基准（来自先验）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77640"/>
            <a:ext cx="370332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977640"/>
            <a:ext cx="3703320" cy="45720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06908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罕见 regime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5720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情形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818888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异常工况、紧急停车、负荷切换
监督模型从未见过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5321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TSFM 优势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76072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TSFM 在跨域预训练中见过类似突变
→ 泛化更好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3977640"/>
            <a:ext cx="370332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51960" y="3977640"/>
            <a:ext cx="370332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406908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同时做异常检测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45720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情形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4818888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TSFM 的概率头给出 P50/P90
实测值越界 = 异常信号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5321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TSFM 优势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40" y="576072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监督模型通常仅点估计；要做异常
需另训一个模型 → TSFM 一举两得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3977640"/>
            <a:ext cx="370332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46720" y="3977640"/>
            <a:ext cx="3703320" cy="457200"/>
          </a:xfrm>
          <a:prstGeom prst="rect">
            <a:avLst/>
          </a:prstGeom>
          <a:solidFill>
            <a:srgbClr val="16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83880" y="406908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生态优势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5720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8B1A"/>
                </a:solidFill>
                <a:latin typeface="Microsoft YaHei"/>
              </a:rPr>
              <a:t>情形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818888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F3A"/>
                </a:solidFill>
                <a:latin typeface="Microsoft YaHei"/>
              </a:rPr>
              <a:t>云厂商 (AWS / GCP / Azure) 已部署
TSFM 服务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5321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TSFM 优势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76072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API 调用 + LoRA 微调；运维成本远低于
自建监督流水线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 · TSFM 仍必要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VI · 反向边界：什么情况下 TSFM 反而不该用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诚实的论证必须告诉你边界 — 这些情形请直接用经典或物理模型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19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577840" cy="1554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73152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087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YaHei"/>
              </a:rPr>
              <a:t>✗ 严格安全关键控制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745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需要可证明的稳定性边界（DCS 内层控制）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33172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2E8B57"/>
                </a:solidFill>
                <a:latin typeface="Microsoft YaHei"/>
              </a:rPr>
              <a:t>→ 用 PID 或 MPC；TSFM 仅做监督 / 异常检测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17320"/>
            <a:ext cx="5577840" cy="1554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17320"/>
            <a:ext cx="73152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087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YaHei"/>
              </a:rPr>
              <a:t>✗ 可观测变量极少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8745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只能测 T 一个变量，且无可估计的辅助变量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33172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2E8B57"/>
                </a:solidFill>
                <a:latin typeface="Microsoft YaHei"/>
              </a:rPr>
              <a:t>→ 受 Stark 定理限制；改用经验关联式 + 工艺操作经验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08960"/>
            <a:ext cx="5577840" cy="1554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004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YaHei"/>
              </a:rPr>
              <a:t>✗ 强离散事件主导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661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频繁停车 / 切牌号 / 重大维护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2336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2E8B57"/>
                </a:solidFill>
                <a:latin typeface="Microsoft YaHei"/>
              </a:rPr>
              <a:t>→ 加 regime token + 事件感知模型；纯 TSFM 会混入噪声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108960"/>
            <a:ext cx="5577840" cy="1554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108960"/>
            <a:ext cx="73152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2004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YaHei"/>
              </a:rPr>
              <a:t>✗ 数据极少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5661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新装置、&lt; 100 个数据点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02336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2E8B57"/>
                </a:solidFill>
                <a:latin typeface="Microsoft YaHei"/>
              </a:rPr>
              <a:t>→ 物理模型 + 在线学习；TSFM 微调也救不了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00600"/>
            <a:ext cx="5577840" cy="1554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800600"/>
            <a:ext cx="73152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892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YaHei"/>
              </a:rPr>
              <a:t>✗ 成本敏感的边缘部署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257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PLC 内嵌、无 GPU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7150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2E8B57"/>
                </a:solidFill>
                <a:latin typeface="Microsoft YaHei"/>
              </a:rPr>
              <a:t>→ 用 ARMAX / 卡尔曼滤波 / 蒸馏小模型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4800600"/>
            <a:ext cx="5577840" cy="1554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4800600"/>
            <a:ext cx="73152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892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YaHei"/>
              </a:rPr>
              <a:t>✗ 强非平稳 regime（如蒸汽爆破式工艺）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257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几乎每个工况都是 OOD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7150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2E8B57"/>
                </a:solidFill>
                <a:latin typeface="Microsoft YaHei"/>
              </a:rPr>
              <a:t>→ 物理 + 在线学习；TSFM 先验失效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→ TSFM 是工具不是宗教 — 适配场景才是工程师的责任。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VII · 决策树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VII · 决策树：你的具体场景应该选哪个方案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从『协变量是否可测』到『数据量』到『物理模型』 — 一张图回答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20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371600"/>
            <a:ext cx="5029200" cy="640080"/>
          </a:xfrm>
          <a:prstGeom prst="rect">
            <a:avLst/>
          </a:prstGeom>
          <a:solidFill>
            <a:srgbClr val="142C52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3716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Q1: 关键外生变量是否可观测？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657600" y="2011680"/>
            <a:ext cx="1828800" cy="274320"/>
          </a:xfrm>
          <a:prstGeom prst="bentConnector3">
            <a:avLst/>
          </a:prstGeom>
          <a:ln w="254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00800" y="2011680"/>
            <a:ext cx="1828800" cy="274320"/>
          </a:xfrm>
          <a:prstGeom prst="bentConnector3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14800" y="1965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E8B57"/>
                </a:solidFill>
                <a:latin typeface="Microsoft YaHei"/>
              </a:rPr>
              <a:t>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965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Microsoft YaHei"/>
              </a:rPr>
              <a:t>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2286000"/>
            <a:ext cx="3657600" cy="640080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2860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Q2: 物理模型可信吗？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86000"/>
            <a:ext cx="3657600" cy="640080"/>
          </a:xfrm>
          <a:prstGeom prst="rect">
            <a:avLst/>
          </a:prstGeom>
          <a:solidFill>
            <a:srgbClr val="C0392B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2860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</a:rPr>
              <a:t>Stark 限制 — TSFM 无法救场
改用工艺关联式或考虑加传感器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828800" y="2926080"/>
            <a:ext cx="1371600" cy="457200"/>
          </a:xfrm>
          <a:prstGeom prst="bentConnector3">
            <a:avLst/>
          </a:prstGeom>
          <a:ln w="254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14800" y="2926080"/>
            <a:ext cx="1371600" cy="457200"/>
          </a:xfrm>
          <a:prstGeom prst="bentConnector3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28800" y="2880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880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  <a:latin typeface="Microsoft YaHei"/>
              </a:rPr>
              <a:t>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383280"/>
            <a:ext cx="3200400" cy="640080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33832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Q3a: 数据量 ≥ 1k？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640080" y="4023360"/>
            <a:ext cx="731520" cy="457200"/>
          </a:xfrm>
          <a:prstGeom prst="bentConnector3">
            <a:avLst/>
          </a:prstGeom>
          <a:ln w="254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86000" y="4023360"/>
            <a:ext cx="731520" cy="457200"/>
          </a:xfrm>
          <a:prstGeom prst="bentConnector3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-502920" y="4480560"/>
            <a:ext cx="2286000" cy="640080"/>
          </a:xfrm>
          <a:prstGeom prst="rect">
            <a:avLst/>
          </a:prstGeom>
          <a:solidFill>
            <a:srgbClr val="2E8B57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-502920" y="44805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</a:rPr>
              <a:t>L4 · 物理 + TimeXer
(推荐)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4520" y="4480560"/>
            <a:ext cx="2286000" cy="640080"/>
          </a:xfrm>
          <a:prstGeom prst="rect">
            <a:avLst/>
          </a:prstGeom>
          <a:solidFill>
            <a:srgbClr val="E88B1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74520" y="44805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</a:rPr>
              <a:t>纯物理模型
+ 在线学习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86200" y="3383280"/>
            <a:ext cx="3200400" cy="640080"/>
          </a:xfrm>
          <a:prstGeom prst="rect">
            <a:avLst/>
          </a:prstGeom>
          <a:solidFill>
            <a:srgbClr val="0B1F3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33832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Q3b: 数据量 ≥ 1k？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4572000" y="4023360"/>
            <a:ext cx="457200" cy="457200"/>
          </a:xfrm>
          <a:prstGeom prst="bentConnector3">
            <a:avLst/>
          </a:prstGeom>
          <a:ln w="254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943600" y="4023360"/>
            <a:ext cx="457200" cy="457200"/>
          </a:xfrm>
          <a:prstGeom prst="bentConnector3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474720" y="4480560"/>
            <a:ext cx="2194560" cy="640080"/>
          </a:xfrm>
          <a:prstGeom prst="rect">
            <a:avLst/>
          </a:prstGeom>
          <a:solidFill>
            <a:srgbClr val="2E8B57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44805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</a:rPr>
              <a:t>L3 · LoRA fine-tune
+ TimeXer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0" y="4480560"/>
            <a:ext cx="2194560" cy="640080"/>
          </a:xfrm>
          <a:prstGeom prst="rect">
            <a:avLst/>
          </a:prstGeom>
          <a:solidFill>
            <a:srgbClr val="E88B1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0" y="44805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</a:rPr>
              <a:t>L1 · Moirai
zero-shot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→ 反应器场景几乎总是落到左侧分支（L4 / L3）；关键是 Q1 的诚实回答。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VII · 决策树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VII · 风险：盲目用单变量 TSFM 的工程代价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如果你的领导 / 合作方坚持『用 TSFM 一招解决』，这是你需要带去会议的反例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21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57784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73152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087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YaHei"/>
              </a:rPr>
              <a:t>⚠ 误导操作员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78308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阶跃响应预测错误 → 操作员误判工况稳定 → 延迟应对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6888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333A47"/>
                </a:solidFill>
                <a:latin typeface="Microsoft YaHei"/>
              </a:rPr>
              <a:t>→ 在能源化工：可能导致温度超限、设备损坏、安全事故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17320"/>
            <a:ext cx="557784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17320"/>
            <a:ext cx="73152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087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YaHei"/>
              </a:rPr>
              <a:t>⚠ 假阳性 / 假阴性异常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8308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TSFM 对外生扰动『无知』 → 把外生引起的真实变化误判为异常
或反之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6888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333A47"/>
                </a:solidFill>
                <a:latin typeface="Microsoft YaHei"/>
              </a:rPr>
              <a:t>→ 运维团队对告警系统失去信任 → 项目失败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27248"/>
            <a:ext cx="557784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127248"/>
            <a:ext cx="73152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186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YaHei"/>
              </a:rPr>
              <a:t>⚠ 过度乐观的 ROI 评估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493008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Demo 看起来不错（在平稳工况）→ 上线后阶跃处崩溃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178808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333A47"/>
                </a:solidFill>
                <a:latin typeface="Microsoft YaHei"/>
              </a:rPr>
              <a:t>→ 项目立项基于错误数据 → 后续投入受质疑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127248"/>
            <a:ext cx="557784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127248"/>
            <a:ext cx="73152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2186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YaHei"/>
              </a:rPr>
              <a:t>⚠ 替代了应该做的传感器投资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493008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把『不装组分分析仪』合理化为『反正用 TSFM』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178808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333A47"/>
                </a:solidFill>
                <a:latin typeface="Microsoft YaHei"/>
              </a:rPr>
              <a:t>→ 实际上根本没解决信息缺失问题；只是把成本从硬件转到了误差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37176"/>
            <a:ext cx="557784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837176"/>
            <a:ext cx="73152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92861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YaHei"/>
              </a:rPr>
              <a:t>⚠ 不可解释的失败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20293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工艺工程师无法理解为什么 TSFM 在某个工况突然差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8873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333A47"/>
                </a:solidFill>
                <a:latin typeface="Microsoft YaHei"/>
              </a:rPr>
              <a:t>→ 推动『TSFM 不可信』的回潮 → 整个 AI 化项目反弹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4837176"/>
            <a:ext cx="557784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4837176"/>
            <a:ext cx="73152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92861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YaHei"/>
              </a:rPr>
              <a:t>⚠ 合规 / 监管风险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20293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化工 / 制药行业：FDA / 应急管理部要求模型可解释性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88873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333A47"/>
                </a:solidFill>
                <a:latin typeface="Microsoft YaHei"/>
              </a:rPr>
              <a:t>→ 纯黑盒单变量 TSFM 难过审；混合方案易过审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VII · 决策树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Part VII · 直接回答原始问题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Q1, Q2, Q3 的最终答案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22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在受迫系统中的边界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822960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82296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1417320"/>
            <a:ext cx="1033272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1508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对反应器温度，仅用单变量是否完备？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874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Microsoft YaHei"/>
              </a:rPr>
              <a:t>不完备 — 这是定理。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28600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Stark (1999) 拓展的嵌入定理要求联合观测 (T, u)；T 单独无法恢复状态。组分阶跃发生时，单变量 TSFM 在滞后窗口内对未来一无所知。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63240"/>
            <a:ext cx="822960" cy="1600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63240"/>
            <a:ext cx="82296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Q2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063240"/>
            <a:ext cx="1033272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3154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TSFM 在这种情况下完全没用了吗？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520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Microsoft YaHei"/>
              </a:rPr>
              <a:t>完全错。 单变量 TSFM 没用 ≠ TSFM 没用。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93192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5 层方案（L0-L4）几乎都依赖 TSFM 的预训练红利：Moirai、TimeXer、协变量 fine-tune、物理残差。推荐 L3 或 L4 — 在反应器场景上 MAE 比监督模型还低 30-50%。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09160"/>
            <a:ext cx="822960" cy="16002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709160"/>
            <a:ext cx="82296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Q3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709160"/>
            <a:ext cx="1033272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4800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如果一定要选一个方案，你推荐什么？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166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物理残差 + TimeXer + LoRA 微调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57784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Microsoft YaHei"/>
              </a:rPr>
              <a:t>理由：(1) 物理给安全和可解释性；(2) TimeXer 显式建模因果方向；(3) LoRA 让你保留 TimesFM/Chronos 的预训练先验，同时定制到具体反应器。工程上 8-10 周可上线，MAE 期望 ~1.1 K，coverage 0.85+。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YaHei"/>
              </a:rPr>
              <a:t>结论 · 用一句话总结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13716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64592" cy="13716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ONE-LINER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500">
                <a:solidFill>
                  <a:srgbClr val="FFFFFF"/>
                </a:solidFill>
                <a:latin typeface="Microsoft YaHei"/>
              </a:rPr>
              <a:t>受迫系统中『单变量 TSFM』数学上不完备；但『TSFM + 协变量』在工程上几乎总是最优 — 真正的工程问题不是『要不要 TSFM』，而是『如何把 TSFM 的预训练红利与外生协变量正确融合』。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8B1A"/>
                </a:solidFill>
                <a:latin typeface="Microsoft YaHei"/>
              </a:rPr>
              <a:t>三个 take-away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0440"/>
            <a:ext cx="822960" cy="77724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B1F3A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566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受迫系统下，『单变量 zero-shot』必然失败 — 这是 Stark 定理。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931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CE3F0"/>
                </a:solidFill>
                <a:latin typeface="Microsoft YaHei"/>
              </a:rPr>
              <a:t>工业部署中务必把所有 Tier 1 协变量（驱动力）显式纳入。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34840"/>
            <a:ext cx="822960" cy="77724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B1F3A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80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TSFM 的真正价值在于『预训练先验 + 协变量融合』，而非『单变量万能』。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846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CE3F0"/>
                </a:solidFill>
                <a:latin typeface="Microsoft YaHei"/>
              </a:rPr>
              <a:t>TimeXer / Moirai / LoRA fine-tune 让 TSFM 与协变量结合 — 仍是 SOTA。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349240"/>
            <a:ext cx="822960" cy="77724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B1F3A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394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对你的反应器：物理残差 + TimeXer + LoRA。8-10 周上线，MAE ~1.1 K。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CE3F0"/>
                </a:solidFill>
                <a:latin typeface="Microsoft YaHei"/>
              </a:rPr>
              <a:t>下一步：先做 Phase 1 数据 audit，列出 Tier 1 / Tier 2 变量。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DCE3F0"/>
                </a:solidFill>
                <a:latin typeface="Microsoft YaHei"/>
              </a:rPr>
              <a:t>Q &amp; A   ·   Jinsong Zhao   ·   2026-05-07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