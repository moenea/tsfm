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3544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98480" y="365760"/>
            <a:ext cx="54864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YaHei"/>
              </a:rPr>
              <a:t>TSFM 在多工况过渡过程预测预警中的潜力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E88B1A"/>
                </a:solidFill>
                <a:latin typeface="Microsoft YaHei"/>
              </a:rPr>
              <a:t>Univariate or Multivariate? — A ZJSH-grounded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97480"/>
            <a:ext cx="640080" cy="30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5156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DCE3F0"/>
                </a:solidFill>
                <a:latin typeface="Microsoft YaHei"/>
              </a:rPr>
              <a:t>基于 </a:t>
            </a:r>
            <a:r>
              <a:rPr sz="1600" b="1">
                <a:solidFill>
                  <a:srgbClr val="E88B1A"/>
                </a:solidFill>
                <a:latin typeface="Microsoft YaHei"/>
              </a:rPr>
              <a:t>ZJSH 数据集 PI10102</a:t>
            </a:r>
            <a:r>
              <a:rPr sz="1600" b="0">
                <a:solidFill>
                  <a:srgbClr val="DCE3F0"/>
                </a:solidFill>
                <a:latin typeface="Microsoft YaHei"/>
              </a:rPr>
              <a:t> — 16 变量, 524k 样本, 24 个过渡 — 的 OOD 实证分析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DCE3F0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E88B1A"/>
                </a:solidFill>
                <a:latin typeface="Microsoft YaHei"/>
              </a:rPr>
              <a:t>核心结论 (一句话):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DCE3F0"/>
                </a:solidFill>
                <a:latin typeface="Microsoft YaHei"/>
              </a:rPr>
              <a:t>过渡过程的预测预警 </a:t>
            </a:r>
            <a:r>
              <a:rPr sz="1400" b="1">
                <a:solidFill>
                  <a:srgbClr val="E88B1A"/>
                </a:solidFill>
                <a:latin typeface="Microsoft YaHei"/>
              </a:rPr>
              <a:t>不是单一任务</a:t>
            </a:r>
            <a:r>
              <a:rPr sz="1400" b="0">
                <a:solidFill>
                  <a:srgbClr val="DCE3F0"/>
                </a:solidFill>
                <a:latin typeface="Microsoft YaHei"/>
              </a:rPr>
              <a:t>, 必须分解为 </a:t>
            </a:r>
            <a:r>
              <a:rPr sz="1400" b="1">
                <a:solidFill>
                  <a:srgbClr val="E88B1A"/>
                </a:solidFill>
                <a:latin typeface="Microsoft YaHei"/>
              </a:rPr>
              <a:t>3 个子任务</a:t>
            </a:r>
            <a:r>
              <a:rPr sz="1400" b="0">
                <a:solidFill>
                  <a:srgbClr val="DCE3F0"/>
                </a:solidFill>
                <a:latin typeface="Microsoft YaHei"/>
              </a:rPr>
              <a:t> — TSFM 在每个子任务上的合理范式 </a:t>
            </a:r>
            <a:r>
              <a:rPr sz="1400" b="1">
                <a:solidFill>
                  <a:srgbClr val="E88B1A"/>
                </a:solidFill>
                <a:latin typeface="Microsoft YaHei"/>
              </a:rPr>
              <a:t>不一样</a:t>
            </a:r>
            <a:r>
              <a:rPr sz="1400" b="0">
                <a:solidFill>
                  <a:srgbClr val="DCE3F0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DCE3F0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400" b="1">
                <a:solidFill>
                  <a:srgbClr val="FFFFFF"/>
                </a:solidFill>
                <a:latin typeface="Microsoft YaHei"/>
              </a:rPr>
              <a:t>过渡内部轨迹预测</a:t>
            </a:r>
            <a:r>
              <a:rPr sz="1400" b="0">
                <a:solidFill>
                  <a:srgbClr val="DCE3F0"/>
                </a:solidFill>
                <a:latin typeface="Microsoft YaHei"/>
              </a:rPr>
              <a:t>: </a:t>
            </a:r>
            <a:r>
              <a:rPr sz="1400" b="1">
                <a:solidFill>
                  <a:srgbClr val="2E8B57"/>
                </a:solidFill>
                <a:latin typeface="Microsoft YaHei"/>
              </a:rPr>
              <a:t>✓ 单变量 TSFM 可能最优 (Δ 边际近似 i.i.d.)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400" b="1">
                <a:solidFill>
                  <a:srgbClr val="FFFFFF"/>
                </a:solidFill>
                <a:latin typeface="Microsoft YaHei"/>
              </a:rPr>
              <a:t>过渡早期预警 (leading indicator)</a:t>
            </a:r>
            <a:r>
              <a:rPr sz="1400" b="0">
                <a:solidFill>
                  <a:srgbClr val="DCE3F0"/>
                </a:solidFill>
                <a:latin typeface="Microsoft YaHei"/>
              </a:rPr>
              <a:t>: </a:t>
            </a:r>
            <a:r>
              <a:rPr sz="1400" b="1">
                <a:solidFill>
                  <a:srgbClr val="C0392B"/>
                </a:solidFill>
                <a:latin typeface="Microsoft YaHei"/>
              </a:rPr>
              <a:t>✗ 必须 multivariate (controller OP)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400" b="1">
                <a:solidFill>
                  <a:srgbClr val="FFFFFF"/>
                </a:solidFill>
                <a:latin typeface="Microsoft YaHei"/>
              </a:rPr>
              <a:t>新工况首次出现 (extreme OOD)</a:t>
            </a:r>
            <a:r>
              <a:rPr sz="1400" b="0">
                <a:solidFill>
                  <a:srgbClr val="DCE3F0"/>
                </a:solidFill>
                <a:latin typeface="Microsoft YaHei"/>
              </a:rPr>
              <a:t>: </a:t>
            </a:r>
            <a:r>
              <a:rPr sz="1400" b="1">
                <a:solidFill>
                  <a:srgbClr val="E06E18"/>
                </a:solidFill>
                <a:latin typeface="Microsoft YaHei"/>
              </a:rPr>
              <a:t>△ TSFM 有韧性, 但需 OOD 检测层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126480"/>
            <a:ext cx="10515600" cy="15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8B1A"/>
                </a:solidFill>
                <a:latin typeface="Microsoft YaHei"/>
              </a:rPr>
              <a:t>Jinsong Zhao    ·    清华大学    ·    2026-05-08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 · 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把问题精确化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『TSFM 在多工况过渡过程预测预警中是否有潜力 — 单变量是否够?』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64592" cy="14630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用户问题的隐含三元组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74519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Q.1   多工况过渡过程下, TSFM 是否有潜力?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Q.2   单变量 TSFM (univariate-to-univariate) 这种『TSFM 主流模式』是否更合适?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Q.3   什么时候够、什么时候不够?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1247120" cy="5029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关键观察: 『过渡过程预测预警』不是一个任务, 而是 至少三个 不同任务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3703320" cy="2697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3703320" cy="5029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Task A · 内部轨迹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已经进入了过渡, 预测下一段轨迹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92040"/>
            <a:ext cx="3337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输入: 过渡早期 60-300 步
输出: 之后 30-120 步轨迹
问: TSFM 单变量能否抓住?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03320" cy="2697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03320"/>
            <a:ext cx="37033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37033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Task B · 早期预警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43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稳态时, 预警过渡 即将 发生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892040"/>
            <a:ext cx="3337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输入: 稳态运行历史
输出: 概率: 未来 X 步内会发生过渡?
问: 谁带来 leading 信号?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703320"/>
            <a:ext cx="3703320" cy="2697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3703320" cy="5029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70332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Task C · 新工况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343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进入历史从未见过的工况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92040"/>
            <a:ext cx="3337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输入: 训练数据中没出现过的目标态
输出: 该工况下的轨迹预测
问: TSFM 是否仍可信?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ZJSH 实证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ZJSH 数据集 · 我们用什么来回答这个问题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目标变量 PI10102 + 15 个外生变量 + 524k 时间点 + 24 个识别出的过渡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3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数据规模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521208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时间点数: 524,140 (秒级 ~ 6 天连续)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变量数: 16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  包含: 流量 FIC × 7 (PV+OP), 温度 TIC, 压力 PI, 液位 LI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识别出的过渡: 24 个 (BGMM regime + Mahalanobis 距离)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目标变量: PI10102 (压力指示)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4864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5486400" cy="5029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变量类型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521208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PV (Process Value):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被动测量, 反映系统真实状态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    </a:t>
            </a:r>
            <a:r>
              <a:rPr sz="1100" b="0">
                <a:solidFill>
                  <a:srgbClr val="4A5568"/>
                </a:solidFill>
                <a:latin typeface="Microsoft YaHei"/>
              </a:rPr>
              <a:t>FIC*PV, TIC*PV, LI20503, PI10102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OP (Output / 控制器输出):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主动控制信号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    </a:t>
            </a:r>
            <a:r>
              <a:rPr sz="1100" b="0">
                <a:solidFill>
                  <a:srgbClr val="4A5568"/>
                </a:solidFill>
                <a:latin typeface="Microsoft YaHei"/>
              </a:rPr>
              <a:t>FIC*OP, TIC*OP — 这些是 </a:t>
            </a:r>
            <a:r>
              <a:rPr sz="1100" b="1">
                <a:solidFill>
                  <a:srgbClr val="C0392B"/>
                </a:solidFill>
                <a:latin typeface="Microsoft YaHei"/>
              </a:rPr>
              <a:t>人为施加的扰动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OP 是 leading 信号源, PV 是 lagging 响应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过渡检测原理 (BGMM + Mahalanobis tail)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3484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Step 1   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BGMM (变分贝叶斯高斯混合) 在 16 维变量空间识别 regime / 工况簇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Step 2   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regime 标签的 change-point + Mahalanobis 距离 &gt; P97 标记『候选过渡区间』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Step 3   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中值滤波 (W=301) 后合并近邻区间, 过滤过短段 (&lt; 301)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Step 4   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只保留两端 regime 不同的区间 ⇒ 24 个真过渡, 长度 903 - 13006 步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这给我们一个『跨工况受控数据集』, 可以严格比较『同一目标变量在 24 种工况切换中的统计行为』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ZJSH 实证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OOD 证据 1 · 目标变量 Δ-空间 跨工况近似 i.i.d.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PI10102 的 Δx 边际分布 — 跨 24 个过渡几乎不可分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4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00" cy="23774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Pairwise KS 检验 · PI10102 的 Δx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DCE3F0"/>
                </a:solidFill>
                <a:latin typeface="Microsoft YaHei"/>
              </a:rPr>
              <a:t>n_pairs = 276 (24 transitions × C(2,2))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YaHei"/>
              </a:rPr>
              <a:t>FDR-BH 拒绝率: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42316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88B1A"/>
                </a:solidFill>
                <a:latin typeface="Microsoft YaHei"/>
              </a:rPr>
              <a:t>18.84%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DCE3F0"/>
                </a:solidFill>
                <a:latin typeface="Microsoft YaHei"/>
              </a:rPr>
              <a:t>(原始 raw=27.54%; 5% 显著性下随机基线 ~5%)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54864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164592" cy="23774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FDR=18.84% 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意味着只有 ~19% 的过渡对在 Δ 边际上 </a:t>
            </a:r>
            <a:r>
              <a:rPr sz="1100" b="1">
                <a:solidFill>
                  <a:srgbClr val="0B1F3A"/>
                </a:solidFill>
                <a:latin typeface="Microsoft YaHei"/>
              </a:rPr>
              <a:t>可被区分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大部分过渡对的 Δx 边际看起来 </a:t>
            </a:r>
            <a:r>
              <a:rPr sz="1100" b="1">
                <a:solidFill>
                  <a:srgbClr val="0B1F3A"/>
                </a:solidFill>
                <a:latin typeface="Microsoft YaHei"/>
              </a:rPr>
              <a:t>来自同一分布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这是 TSFM 的 </a:t>
            </a:r>
            <a:r>
              <a:rPr sz="1100" b="1">
                <a:solidFill>
                  <a:srgbClr val="E88B1A"/>
                </a:solidFill>
                <a:latin typeface="Microsoft YaHei"/>
              </a:rPr>
              <a:t>『梦境数据』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 — RevIN 假设的边际不变性近似成立.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• 类比: 你看 24 段不同的语音, 词频分布几乎相同 ⇒ TSFM 的语言模型直接通用.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其他独立检验的一致性证据 (PI10102 在 Δ 空间)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8056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ADF + KPSS: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24/24 工况 都判定 stationary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  (ADF p &lt; 0.05  AND  KPSS p &gt; 0.05 一致)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Permutation Entropy: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PE(m=4) 全部 ≥ 0.98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  序列在『序号模式』上接近随机 ⇒ 复杂度 saturated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Sign-change rate: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0.59 - 0.65 across all 24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  随机游走基线为 0.5; 略高反映 mild mean-reversion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8056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Hurst 指数 H: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多数 0.40-0.50 (random walk / 弱反持续)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  极端: T2/T3/T23 微 persistent (H ≈ 0.6)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0B1F3A"/>
                </a:solidFill>
                <a:latin typeface="Microsoft YaHei"/>
              </a:rPr>
              <a:t>Variance Ratio VR(60):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多在 0.18 - 0.46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  显著小于 1 ⇒ 长程反持续 (mean-reverting)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2E8B57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综合判定: 在目标变量 Δ 空间, 跨工况几乎是『同一种动力学』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ZJSH 实证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OOD 证据 2 · 控制器 OP 变量则跨工况差异巨大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OP 才是过渡的真正『驱动信号』 — KS 拒绝率高达 75 - 87%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5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Pairwise KS · FDR-BH 拒绝率排序 (Δx 边际)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FIC10103OP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920240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920240"/>
            <a:ext cx="6702140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61320" y="192024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Microsoft YaHei"/>
              </a:rPr>
              <a:t>86.23%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08654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FIC10105OP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086544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97480" y="2086544"/>
            <a:ext cx="6533479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61320" y="208654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Microsoft YaHei"/>
              </a:rPr>
              <a:t>84.06%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252848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FIC10103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252848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97480" y="2252848"/>
            <a:ext cx="6589440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2252848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Microsoft YaHei"/>
              </a:rPr>
              <a:t>84.78%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419152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FIC10101OP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2419152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97480" y="2419152"/>
            <a:ext cx="6223360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61320" y="241915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Microsoft YaHei"/>
              </a:rPr>
              <a:t>80.07%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585456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FIC10102OP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2585456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97480" y="2585456"/>
            <a:ext cx="6082680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61320" y="258545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Microsoft YaHei"/>
              </a:rPr>
              <a:t>78.26%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275176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FIC10102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2751760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97480" y="2751760"/>
            <a:ext cx="5969980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61320" y="275176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Microsoft YaHei"/>
              </a:rPr>
              <a:t>76.81%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291806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FIC10104OP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2918064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97480" y="2918064"/>
            <a:ext cx="5716600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61320" y="291806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Microsoft YaHei"/>
              </a:rPr>
              <a:t>73.55%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084368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FIC20901OP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3084368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97480" y="3084368"/>
            <a:ext cx="4843759" cy="146304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61320" y="3084368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06E18"/>
                </a:solidFill>
                <a:latin typeface="Microsoft YaHei"/>
              </a:rPr>
              <a:t>62.32%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3250672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FIC10401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97480" y="3250672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97480" y="3250672"/>
            <a:ext cx="3970919" cy="146304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61320" y="325067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06E18"/>
                </a:solidFill>
                <a:latin typeface="Microsoft YaHei"/>
              </a:rPr>
              <a:t>51.09%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3416976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FIC10401OP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7480" y="3416976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97480" y="3416976"/>
            <a:ext cx="3576081" cy="146304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61320" y="341697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06E18"/>
                </a:solidFill>
                <a:latin typeface="Microsoft YaHei"/>
              </a:rPr>
              <a:t>46.01%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358328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FIC10402OP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97480" y="3583280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697480" y="3583280"/>
            <a:ext cx="3154039" cy="146304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61320" y="35832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06E18"/>
                </a:solidFill>
                <a:latin typeface="Microsoft YaHei"/>
              </a:rPr>
              <a:t>40.58%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374958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TIC10204OP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97480" y="3749584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97480" y="3749584"/>
            <a:ext cx="2985378" cy="146304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61320" y="374958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06E18"/>
                </a:solidFill>
                <a:latin typeface="Microsoft YaHei"/>
              </a:rPr>
              <a:t>38.41%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3915888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TIC10204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97480" y="3915888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97480" y="3915888"/>
            <a:ext cx="2843921" cy="146304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61320" y="3915888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E06E18"/>
                </a:solidFill>
                <a:latin typeface="Microsoft YaHei"/>
              </a:rPr>
              <a:t>36.59%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" y="4082192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LI20503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97480" y="4082192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97480" y="4082192"/>
            <a:ext cx="1492300" cy="14630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561320" y="40821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19.20%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" y="4248496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PI10102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97480" y="4248496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697480" y="4248496"/>
            <a:ext cx="1464320" cy="14630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61320" y="424849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18.84%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" y="441480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Microsoft YaHei"/>
              </a:rPr>
              <a:t>FIC20901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97480" y="4414800"/>
            <a:ext cx="77724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697480" y="4414800"/>
            <a:ext cx="1070259" cy="14630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61320" y="441480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13.77%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754880"/>
            <a:ext cx="11247120" cy="16916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4892040"/>
            <a:ext cx="107899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400" b="1">
                <a:solidFill>
                  <a:srgbClr val="E88B1A"/>
                </a:solidFill>
                <a:latin typeface="Microsoft YaHei"/>
              </a:rPr>
              <a:t>控制器 OP 在 Δ 空间跨工况 显著不同 (KS FDR 75-87%)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DCE3F0"/>
                </a:solidFill>
                <a:latin typeface="Microsoft YaHei"/>
              </a:rPr>
              <a:t>    OP 在不同工况下被设定为不同的目标值, 导致 Δ-空间动力学不同 — 这是预期的, 因为 OP 反映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人为意图</a:t>
            </a:r>
            <a:r>
              <a:rPr sz="1200" b="0">
                <a:solidFill>
                  <a:srgbClr val="DCE3F0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400" b="1">
                <a:solidFill>
                  <a:srgbClr val="E88B1A"/>
                </a:solidFill>
                <a:latin typeface="Microsoft YaHei"/>
              </a:rPr>
              <a:t>PV 类变量 (PI10102, LI20503, FIC20901) 跨工况几乎不可区分 (KS FDR 14-19%)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DCE3F0"/>
                </a:solidFill>
                <a:latin typeface="Microsoft YaHei"/>
              </a:rPr>
              <a:t>    这告诉我们: 物理系统对不同 OP 的响应在 Δ 空间『被压缩』到了相似的统计行为.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OP 是因, PV 是果</a:t>
            </a:r>
            <a:r>
              <a:rPr sz="1200" b="0">
                <a:solidFill>
                  <a:srgbClr val="DCE3F0"/>
                </a:solidFill>
                <a:latin typeface="Microsoft YaHe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 · ZJSH 实证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这两个观察对 TSFM 意味着什么?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把 ZJSH 的统计结构精确映射到 TSFM 的工作前提 — 是否吻合?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6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161288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64592" cy="116128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6304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RevIN / InstanceNorm 的『边际不变』前提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前提:  TSFM 在每个 instance 内做 z-score; 隐含假设是 不同 instance 的 (z-score 后) 边际近似一致.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0574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ZJSH 证据:  ZJSH 证据: PI10102 的 Δ 边际 KS=18.84%, ADF/KPSS 一致 stationary, PE 一致饱和.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042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→ 高度吻合: RevIN 是合适的归一化策略.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24328"/>
            <a:ext cx="11247120" cy="1161288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624328"/>
            <a:ext cx="164592" cy="116128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67004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Patching 的『局部模式可复用』前提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9900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前提:  假设邻近时间点构成的 patch 的语义 在不同序列间可以共享; sin / 阶跃 / 振荡等 motif 是通用词汇.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6440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ZJSH 证据:  ZJSH 证据: PE(m=4)≈0.98, 序号模式分布稳定 ⇒ Δ 空间的 patch 语义跨工况近似复用.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5112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→ 高度吻合: Patching token 在不同过渡间可重用.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31336"/>
            <a:ext cx="11247120" cy="1161288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31336"/>
            <a:ext cx="164592" cy="1161288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77056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ICL / Induction Heads 的『context 可推断 regime』前提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9709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前提:  假设给定足够长 context, 模型可以从中推断当前任务参数.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7141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ZJSH 证据:  ZJSH 证据: 24 个工况下 Hurst 在 0.4-0.6 间小变动, VR(60) 也仅在 0.2-0.5 间,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1830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6E18"/>
                </a:solidFill>
                <a:latin typeface="Microsoft YaHei"/>
              </a:rPr>
              <a:t>→ 部分吻合: regime 信号微弱但存在; ICL 可识别但可能需较长 context.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38344"/>
            <a:ext cx="11247120" cy="1161288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038344"/>
            <a:ext cx="164592" cy="116128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8406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跨工况共享一种动力学的隐含假设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0410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前提:  单变量 TSFM 默认: 同一个 f_θ 适用于所有过渡 / 工况, 无需切换.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7842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ZJSH 证据:  ZJSH 证据: PI10102 的 ADF+KPSS 全 stationary, KS 弱拒绝 ⇒ 在 Δ 空间确实近似单一动力学.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253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Microsoft YaHei"/>
              </a:rPr>
              <a:t>→ 高度吻合: 单 model 多工况 是合理的.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三任务分别讨论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任务 A · 过渡内部轨迹预测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已经进入过渡, 给定早期 60-300 步, 预测后续 30-120 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7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✓  单变量 TSFM (univariate-to-univariate) 在 ZJSH 上理论上可行, 且很可能最优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1124712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三个理由 — 都来自 ZJSH 实证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3464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R1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Δx 边际跨工况近似 i.i.d. (KS=18.84%) ⇒ TSFM 在所有 24 个过渡上看到的『局部统计』几乎相同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R2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PE+Hurst+VR 一致 ⇒ 局部动力学在 Δ 空间几乎共享 ⇒ 一个 TSFM 模型即可覆盖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R3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ICL 通过 context (过渡早期 60-300 步) 自动判断当前是哪种过渡的中段,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不需要外部 regime 标签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486400" cy="2697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486400" cy="5029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推荐做法 (PI10102)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模型: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Timer-XL / TimesFM-200M / Chronos-Bolt-Base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范式: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zero-shot 优先 → 不行再 LoRA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输入: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过渡早期 96-512 步的 PI10102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输出: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未来 24-96 步 + P10/P50/P90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数据: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以 24 个过渡作为 24 个『同质样本』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E88B1A"/>
                </a:solidFill>
                <a:latin typeface="Microsoft YaHei"/>
              </a:rPr>
              <a:t>• 校准: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Conformal post-hoc, hold-out 4 个过渡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486400" cy="2697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49039"/>
            <a:ext cx="5486400" cy="5029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749039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为什么单变量在这里『正好够』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进入过渡『后』, 上游 OP 变化已经在 PI10102 历史中留下印迹 — 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  ICL 可以从 context 反向推断 regime.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多变量带来的 </a:t>
            </a:r>
            <a:r>
              <a:rPr sz="1100" b="1">
                <a:solidFill>
                  <a:srgbClr val="E88B1A"/>
                </a:solidFill>
                <a:latin typeface="Microsoft YaHei"/>
              </a:rPr>
              <a:t>额外信息在 ICL 下被显著稀释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Channel-Independence + 单变量 </a:t>
            </a:r>
            <a:r>
              <a:rPr sz="1100" b="1">
                <a:solidFill>
                  <a:srgbClr val="E88B1A"/>
                </a:solidFill>
                <a:latin typeface="Microsoft YaHei"/>
              </a:rPr>
              <a:t>放大有效数据 16×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 (16 个变量都可独立训练).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• 实证: 在 GIFT-Eval / LOTSA, 单变量 TSFM 在 stationary-Δ 数据上 </a:t>
            </a:r>
            <a:r>
              <a:rPr sz="1100" b="1">
                <a:solidFill>
                  <a:srgbClr val="2E8B57"/>
                </a:solidFill>
                <a:latin typeface="Microsoft YaHei"/>
              </a:rPr>
              <a:t>匹配或胜过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 multivariate.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三任务分别讨论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任务 A 的边界条件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『单变量够用』不是无条件的 — 列出三种例外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8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82880" cy="16276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08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Microsoft YaHei"/>
              </a:rPr>
              <a:t>Caveat 1 · 过渡持续期发生 第二次 OP 干预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20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如果在我们预测的 horizon 内, controller 又施加了 新的 setpoint 改变,
这个新干预不在 PI10102 历史中, 单变量 TSFM 无能为力.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243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→ 解决: 缩短 horizon 到 OP 平均稳定窗口内; 或加 OP_future 预定义信号作为外生输入.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36392"/>
            <a:ext cx="1124712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36392"/>
            <a:ext cx="182880" cy="1627632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278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06E18"/>
                </a:solidFill>
                <a:latin typeface="Microsoft YaHei"/>
              </a:rPr>
              <a:t>Caveat 2 · 持续过渡 (T2/T3/T23) — Hurst &gt; 0.55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3931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这 3 个过渡的 Δx 在长程上 持续, 不是 mean-reverting.
单变量 TSFM 在 stationary-Δ 假设下可能产生轨迹漂移.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→ 解决: 这些过渡上加 trend dummy 或用 Moirai/Lag-Llama 等带漂移建模的 backbone.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5464"/>
            <a:ext cx="1124712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55464"/>
            <a:ext cx="182880" cy="162763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946904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B3FA0"/>
                </a:solidFill>
                <a:latin typeface="Microsoft YaHei"/>
              </a:rPr>
              <a:t>Caveat 3 · 极短过渡 (&lt; 300 步)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5838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T20 (903 步), T9 (1095 步), T12 (1031 步), T19 (1171 步), T23 (1133 步).
Context 不足以让 ICL 收敛 ⇒ 模型可能 fall back 到 prior.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6247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→ 解决: 早期检测过渡 + 切换到『短窗口预测模式』 (输入 32-64 步, 输出 8-16 步).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E88B1A"/>
                </a:solidFill>
                <a:latin typeface="Microsoft YaHei"/>
              </a:rPr>
              <a:t>→ 排除以上三种边角后, 单变量 TSFM 在 ZJSH 内部轨迹任务上是 sweet spot.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三任务分别讨论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任务 B · 过渡早期预警 (leading prediction)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稳态运行中, 提前 5-30 分钟报告: 即将发生过渡的概率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9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✗  单变量 TSFM 在这里 不足以 — 这正好对应『反应器场景』PPT 中的论证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48640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164592" cy="2240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23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为什么单变量做不到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51206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过渡的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触发因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= controller OP 的人为变化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在 PI10102 (PV) 上, OP 变化的影响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有滞后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(若干秒到数分钟).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单变量 TSFM 只能看 PI10102 历史 ⇒ 在 OP 改变到 PV 显著响应之间的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延迟期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, 它没有任何信号.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结果: 单变量预警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最早只能在 PV 已变化时报警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— 这不是『预警』, 是『报告』.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331720"/>
            <a:ext cx="548640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331720"/>
            <a:ext cx="164592" cy="2240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423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什么有效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51206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把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FIC*OP / TIC*OP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作为外生协变量输入.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ZJSH 证据: 这些 OP 在 Δ 空间跨工况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KS 差异 75-87%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— 它们 携带 regime 切换的明确信号.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架构: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TimeXer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(endogenous + exogenous path) 或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Moirai</a:t>
            </a:r>
            <a:r>
              <a:rPr sz="1200" b="0">
                <a:solidFill>
                  <a:srgbClr val="333A47"/>
                </a:solidFill>
                <a:latin typeface="Microsoft YaHei"/>
              </a:rPr>
              <a:t> (multivariate, 任意 channel 数).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训练: 有标签的『过渡发生 / 未发生』分类头, 共享 TSFM 主干.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11247120" cy="16916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因果链 (重要!)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12080"/>
            <a:ext cx="107899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DCE3F0"/>
                </a:solidFill>
                <a:latin typeface="Microsoft YaHei"/>
              </a:rPr>
              <a:t>操作员决定 → 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控制器 SP/OP 变化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  →  阀位变化  →  流量 PV 变化  → 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PI10102 (压力) 响应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  →  ...新稳态.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DCE3F0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300" b="1">
                <a:solidFill>
                  <a:srgbClr val="FFFFFF"/>
                </a:solidFill>
                <a:latin typeface="Microsoft YaHei"/>
              </a:rPr>
              <a:t>OP 是因果链的 上游, PI10102 是下游.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单变量预测预警 = 只看下游 = 必然滞后.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200" b="0">
                <a:solidFill>
                  <a:srgbClr val="DCE3F0"/>
                </a:solidFill>
                <a:latin typeface="Microsoft YaHei"/>
              </a:rPr>
              <a:t>提前 5-30 分钟预警 = 必须把上游 OP 纳入观测 =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multivariate 是必要 不是 nice-to-have</a:t>
            </a:r>
            <a:r>
              <a:rPr sz="1200" b="0">
                <a:solidFill>
                  <a:srgbClr val="DCE3F0"/>
                </a:solidFill>
                <a:latin typeface="Microsoft YaHe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三任务分别讨论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任务 B · 哪些变量值得作为 leading indicator?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用 ZJSH 的 KS 差异分数 + 因果分析筛选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10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828800" cy="11887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Tier 1 · 必选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554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FIC10103OP (KS=86%)  ·  FIC10105OP (KS=84%)  ·  FIC10101OP (KS=80%)  ·  FIC10102OP (KS=78%)  ·  FIC10104OP (KS=74%)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965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33A47"/>
                </a:solidFill>
                <a:latin typeface="Microsoft YaHei"/>
              </a:rPr>
              <a:t>OP 系列控制器输出 — 跨工况差异最大, 因果链最上游, 物理意义清晰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70048"/>
            <a:ext cx="112471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70048"/>
            <a:ext cx="1828800" cy="1188720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70048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Tier 2 · 推荐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8072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FIC10103 (KS=85%)  ·  FIC10102 (KS=77%)  ·  FIC20901OP (KS=62%)  ·  FIC10401 (KS=51%)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21868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33A47"/>
                </a:solidFill>
                <a:latin typeface="Microsoft YaHei"/>
              </a:rPr>
              <a:t>PV / 部分 OP — 跨工况中等差异, 反映系统响应; 与 Tier 1 一起使用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22776"/>
            <a:ext cx="112471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22776"/>
            <a:ext cx="1828800" cy="11887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22776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Tier 3 · 谨慎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05993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TIC10204OP (KS=38%)  ·  TIC10204 (KS=37%)  ·  FIC10402OP (KS=41%)  ·  FIC10401OP (KS=46%)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471416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33A47"/>
                </a:solidFill>
                <a:latin typeface="Microsoft YaHei"/>
              </a:rPr>
              <a:t>温度回路 — KS 中等, 信号相对弱; 视计算预算决定是否纳入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75504"/>
            <a:ext cx="112471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175504"/>
            <a:ext cx="1828800" cy="11887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175504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Tier 4 · 不必要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312664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Microsoft YaHei"/>
              </a:rPr>
              <a:t>LI20503 (KS=19%)  ·  PI10102 (KS=19%)  ·  FIC20901 (KS=14%)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724144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33A47"/>
                </a:solidFill>
                <a:latin typeface="Microsoft YaHei"/>
              </a:rPr>
              <a:t>PV-类, 跨工况几乎不可分; 本身就是要预测的目标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E88B1A"/>
                </a:solidFill>
                <a:latin typeface="Microsoft YaHei"/>
              </a:rPr>
              <a:t>→ 推荐先用 Tier 1+2 (9 个变量) 作为 multivariate 输入; 后续按贡献度 ablation 取舍.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III · 三任务分别讨论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任务 C · 真 OOD · 训练数据中未出现过的工况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工厂启动新生产配方 / 设备故障导致工况漂移 / 进料组分变化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11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△  TSFM 比传统监督方法有韧性, 但需要 OOD 检测 + fallback 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112471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164592" cy="13258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23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  <a:latin typeface="Microsoft YaHei"/>
              </a:rPr>
              <a:t>为什么 TSFM 有相对韧性?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TSFM 在 LOTSA / GIFT 上见过 9 大域 × 各种频率 × 各种过渡形态.
新工况若是『见过的形态加新参数』, ICL 可以拟合.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64991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0B1F3A"/>
                </a:solidFill>
                <a:latin typeface="Microsoft YaHei"/>
              </a:rPr>
              <a:t>证据: TSFM zero-shot 在 GIFT-Eval 的 OOD split 平均 MAE 比 PatchTST/TFT 低 8-15%.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112471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164592" cy="1325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Microsoft YaHei"/>
              </a:rPr>
              <a:t>但不是无限制的『有效』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如果新工况引入了 训练数据中未出现的物理机制 (例: 新副反应, 新反馈回路),
TSFM 同样 over-extrapolate.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36591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0B1F3A"/>
                </a:solidFill>
                <a:latin typeface="Microsoft YaHei"/>
              </a:rPr>
              <a:t>ZJSH 的局限: 我们的 24 个过渡都来自类似工艺; 真正『新』的工况需要外部判断.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74920"/>
            <a:ext cx="112471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074920"/>
            <a:ext cx="164592" cy="132588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66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正确架构: TSFM + OOD 监控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层次: 
  • 第 1 层 — TSFM 预测 + 概率区间 (P10/P90)
  • 第 2 层 — 残差监控 + Mahalanobis 距离 (像 ZJSH 检测过渡的方式)
  • 第 3 层 — 残差超阈值 ⇒ 触发 fallback (人工 / 物理模型 / 保守预测)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08191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0B1F3A"/>
                </a:solidFill>
                <a:latin typeface="Microsoft YaHei"/>
              </a:rPr>
              <a:t>→ 这正好把 ZJSH 的 BGMM 检测逻辑用到了在线场景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IV · 综合判断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三任务总结 · 一张表回答用户的两个问题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TSFM 在哪些子任务有潜力? 单变量在哪些子任务够用?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41732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TSFM 是否有潜力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4173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单变量够吗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推荐范式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4173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ZJSH 证据要点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65960"/>
            <a:ext cx="11247120" cy="146304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1945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Task A · 内部轨迹预测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194560"/>
            <a:ext cx="1737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Microsoft YaHei"/>
              </a:rPr>
              <a:t>✓ 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194560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Microsoft YaHei"/>
              </a:rPr>
              <a:t>✓ 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0312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单变量 TSFM zero-shot 或 LoRA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10312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Δ 边际 KS 18.84%; ADF/KPSS 全 stationary; ICL 可识别 regime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29000"/>
            <a:ext cx="112471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Task B · 过渡早期预警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657600"/>
            <a:ext cx="1737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Microsoft YaHei"/>
              </a:rPr>
              <a:t>✓ 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657600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Microsoft YaHei"/>
              </a:rPr>
              <a:t>✗ 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661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Multivariate (TimeXer / Moirai)
+ Tier 1+2 OP 协变量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56616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OP KS 75-87% 表明 leading 信号集中在 OP; PV 是 lagging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11247120" cy="1463040"/>
          </a:xfrm>
          <a:prstGeom prst="rect">
            <a:avLst/>
          </a:prstGeom>
          <a:solidFill>
            <a:srgbClr val="F4F6FA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1206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B1F3A"/>
                </a:solidFill>
                <a:latin typeface="Microsoft YaHei"/>
              </a:rPr>
              <a:t>Task C · 新工况 (OOD)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120640"/>
            <a:ext cx="1737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06E18"/>
                </a:solidFill>
                <a:latin typeface="Microsoft YaHei"/>
              </a:rPr>
              <a:t>△ 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120640"/>
            <a:ext cx="1554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06E18"/>
                </a:solidFill>
                <a:latin typeface="Microsoft YaHei"/>
              </a:rPr>
              <a:t>△ 部分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02920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TSFM + 残差监控 + fallback
(像 BGMM 用到在线)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02920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Microsoft YaHei"/>
              </a:rPr>
              <a:t>训练数据中未见过的工况; TSFM 比 supervised 韧性强, 但需 OOD 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 · 推荐架构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整合架构 · 同时回应三个任务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一个共享 TSFM backbone, 三种使用模式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13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417320"/>
            <a:ext cx="3931920" cy="11887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4173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88B1A"/>
                </a:solidFill>
                <a:latin typeface="Microsoft YaHei"/>
              </a:rPr>
              <a:t>共享 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7830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Timer-XL / TimesFM-200M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488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DCE3F0"/>
                </a:solidFill>
                <a:latin typeface="Microsoft YaHei"/>
              </a:rPr>
              <a:t>(预训练权重, 共享 attention/patching)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370332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370332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Head A · 单变量轨迹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200400"/>
            <a:ext cx="6858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2004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Microsoft YaHei"/>
              </a:rPr>
              <a:t>Task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4904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PI10102 univariate
96-512 → 24-96 步
+ Conformal CI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308860" y="2606040"/>
            <a:ext cx="3771900" cy="502920"/>
          </a:xfrm>
          <a:prstGeom prst="bentConnector3">
            <a:avLst/>
          </a:prstGeom>
          <a:ln w="2286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251960" y="3108960"/>
            <a:ext cx="370332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108960"/>
            <a:ext cx="37033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310896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Head B · 多变量预警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3200400"/>
            <a:ext cx="6858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32004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  <a:latin typeface="Microsoft YaHei"/>
              </a:rPr>
              <a:t>Task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4904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Tier 1+2 OP 输入
endo: PI10102
exo: 5-9 个 OP
→ 概率: P(transition in next k)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0760" y="2606040"/>
            <a:ext cx="22860" cy="502920"/>
          </a:xfrm>
          <a:prstGeom prst="bentConnector3">
            <a:avLst/>
          </a:prstGeom>
          <a:ln w="2286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046720" y="3108960"/>
            <a:ext cx="370332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108960"/>
            <a:ext cx="3703320" cy="502920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310896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Head C · OOD 检测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0" y="3200400"/>
            <a:ext cx="68580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32004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06E18"/>
                </a:solidFill>
                <a:latin typeface="Microsoft YaHei"/>
              </a:rPr>
              <a:t>Task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74904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残差 + Mahalanobis
阈值: &gt; P95 触发警报
fallback: 人工 / 物理模型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80760" y="2606040"/>
            <a:ext cx="3817620" cy="502920"/>
          </a:xfrm>
          <a:prstGeom prst="bentConnector3">
            <a:avLst/>
          </a:prstGeom>
          <a:ln w="22860">
            <a:solidFill>
              <a:srgbClr val="E06E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57200" y="5806440"/>
            <a:ext cx="1124712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978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好处: 三任务共享 backbone ⇒ 训练效率高 + </a:t>
            </a:r>
            <a:r>
              <a:rPr sz="1200" b="1">
                <a:solidFill>
                  <a:srgbClr val="E88B1A"/>
                </a:solidFill>
                <a:latin typeface="Microsoft YaHei"/>
              </a:rPr>
              <a:t>内部 representation 一致</a:t>
            </a:r>
            <a:r>
              <a:rPr sz="1200" b="1">
                <a:solidFill>
                  <a:srgbClr val="0B1F3A"/>
                </a:solidFill>
                <a:latin typeface="Microsoft YaHei"/>
              </a:rPr>
              <a:t> ⇒ 减少模型间不一致带来的工程成本.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    LoRA adapter 可针对每个 head 独立微调而不影响其他 head.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 · 验证方案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建议的实验对照 · 用 ZJSH 验证三个判断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怎么用现有 24 过渡 + 524k 数据严格证伪 / 证实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14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64592" cy="162763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508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  <a:latin typeface="Microsoft YaHei"/>
              </a:rPr>
              <a:t>Exp 1 · 验证 Task A 的『单变量够用』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7452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Hold out 6 个过渡 (T2 / T3 / T4 / T17 / T18 / T23 — 含长短和持续性多样).
比较: (a) Univariate TSFM zero-shot, (b) Multivariate TSFM (Moirai/TimeXer), (c) 监督 Transformer (PatchTST).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假设证伪条件: 若 (b) MAE 比 (a) 低 ≥ 15%, 则单变量不够 — 需重新评估.
预期: (a) ≈ (b), 都好于 (c).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18104"/>
            <a:ext cx="1124712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18104"/>
            <a:ext cx="164592" cy="16276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0954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Microsoft YaHei"/>
              </a:rPr>
              <a:t>Exp 2 · 验证 Task B 必须 multivariate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75304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构造预警标签: t_i = 1 如果 30 步内会发生过渡, 否则 0.
比较 (a) PI10102-only TSFM (b) PI10102 + Tier1 OP (c) PI10102 + Tier1+2.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15384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假设证伪条件: 若 (a) 的 ROC-AUC ≥ (b), 则单变量足够 — 但根据 KS 差异预测应有 ≥ 15-25 点 AUC 提升.
预期: AUC(a) ≪ AUC(b) &lt; AUC(c).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18888"/>
            <a:ext cx="11247120" cy="1627632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18888"/>
            <a:ext cx="164592" cy="1627632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1032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06E18"/>
                </a:solidFill>
                <a:latin typeface="Microsoft YaHei"/>
              </a:rPr>
              <a:t>Exp 3 · 验证 Task C 的 OOD 检测必要性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7608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人工注入: 在 hold-out 过渡上 添加 噪声 / 漂移 模拟新工况 (mean shift 2σ).
比较: 有 vs 无 残差监控层在 false-positive vs detection-delay 上的权衡.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16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假设证伪条件: 若纯 TSFM 在注入数据上 MAE 不变 + 不报警, 说明它已经把异常误以为是 prior — 需要监控层.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 · 数据的内在含义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为什么 ZJSH 是回答这个问题的『理想』数据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它同时满足『跨工况 marginal 稳定』和『有明确 leading driver』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15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82880" cy="9601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904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跨工况覆盖足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745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24 个不同过渡, 长度 903 - 13006 步 ⇒ ICL context 在所有规模上都能验证.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13055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B1F3A"/>
                </a:solidFill>
                <a:latin typeface="Microsoft YaHei"/>
              </a:rPr>
              <a:t>→ 这给 TSFM『多模式样本量』预测提供了样本空间.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182880" cy="9601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4963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Microsoft YaHei"/>
              </a:rPr>
              <a:t>OP / PV 同步采集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80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16 个变量同时采集, OP (因) 和 PV (果) 都齐全.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3639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B1F3A"/>
                </a:solidFill>
                <a:latin typeface="Microsoft YaHei"/>
              </a:rPr>
              <a:t>→ 可以直接做有 / 无 OP 的对照 (任务 B 的 hold-out).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29000"/>
            <a:ext cx="182880" cy="9601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021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3FA0"/>
                </a:solidFill>
                <a:latin typeface="Microsoft YaHei"/>
              </a:rPr>
              <a:t>Δ-边际近似 i.i.d. 这一现象本身有理论意义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86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工业受控系统, 闭环控制把 PV 拉回 setpoint ⇒ Δ 在长程上是 mean-reverting ⇒ KS 差异小.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4223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B1F3A"/>
                </a:solidFill>
                <a:latin typeface="Microsoft YaHei"/>
              </a:rPr>
              <a:t>→ 这是 控制工程引入的 Δ-stationarity, 不是巧合.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182880" cy="960120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079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7E8A"/>
                </a:solidFill>
                <a:latin typeface="Microsoft YaHei"/>
              </a:rPr>
              <a:t>Permutation entropy ≈ 0.98 暗示 Δ 接近 maximum entropy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920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PE 饱和 ⇒ Δ 序列的『序号信息』几乎没有可压缩性.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4807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B1F3A"/>
                </a:solidFill>
                <a:latin typeface="Microsoft YaHei"/>
              </a:rPr>
              <a:t>→ TSFM 在 Δ 上学不到太多 — 它学的是 patch-level 的尺度+趋势, 不是 ordinal.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4068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440680"/>
            <a:ext cx="182880" cy="960120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5138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6E18"/>
                </a:solidFill>
                <a:latin typeface="Microsoft YaHei"/>
              </a:rPr>
              <a:t>Hurst 0.4-0.55 + VR(60) &lt; 0.5 ⇒ 长程反持续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97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Mean-reverting 行为是 RevIN 假设最符合的设定.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15391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B1F3A"/>
                </a:solidFill>
                <a:latin typeface="Microsoft YaHei"/>
              </a:rPr>
              <a:t>→ 工业闭环回路天然产生这种结构, 这就是 TSFM 在工业 TS 上 work 的内在原因.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 · 数据的内在含义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反直觉洞察 · 闭环控制 让 TSFM 单变量更强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为什么? — 一个工业 TSFM 工作的隐藏机制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16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88B1A"/>
                </a:solidFill>
                <a:latin typeface="Microsoft YaHei"/>
              </a:rPr>
              <a:t>闭环 PID/控制器  ⇒  把 PV 拉回 SP  ⇒  PV 在 Δ 空间『被人工 stationary 化』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5486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5486400" cy="5029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开环 (无控制) 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输入扰动 ⇒ 输出长期漂移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Δ 在长程上 持续 (Hurst &gt; 0.5)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跨工况 边际差异巨大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KPSS 拒绝 stationary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RevIN 假设破坏 ⇒ TSFM 单变量预测漂移失控.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423160"/>
            <a:ext cx="5486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423160"/>
            <a:ext cx="548640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42316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闭环 (PID 控制) 系统 — ZJSH 实际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1752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控制器 把 PV 拉回 SP (闭环负反馈)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Δ 长程上 反持续 (Hurst &lt; 0.5)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跨工况边际近似一致 (KS 19%)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33A47"/>
                </a:solidFill>
                <a:latin typeface="Microsoft YaHei"/>
              </a:rPr>
              <a:t>• ADF + KPSS 一致 stationary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</a:rPr>
              <a:t>→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RevIN 假设近似成立 ⇒ TSFM 单变量预测稳定.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1247120" cy="1691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164592" cy="169164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Microsoft YaHei"/>
              </a:rPr>
              <a:t>深层结论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0B1F3A"/>
                </a:solidFill>
                <a:latin typeface="Microsoft YaHei"/>
              </a:rPr>
              <a:t>现代化工厂的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闭环控制结构</a:t>
            </a:r>
            <a:r>
              <a:rPr sz="1300" b="0">
                <a:solidFill>
                  <a:srgbClr val="0B1F3A"/>
                </a:solidFill>
                <a:latin typeface="Microsoft YaHei"/>
              </a:rPr>
              <a:t> 是 TSFM 在工业 TS 上 work 的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隐藏前提条件</a:t>
            </a:r>
            <a:r>
              <a:rPr sz="1300" b="0">
                <a:solidFill>
                  <a:srgbClr val="0B1F3A"/>
                </a:solidFill>
                <a:latin typeface="Microsoft YaHei"/>
              </a:rPr>
              <a:t> — 它把原本 non-stationary 的物理过程加工成了对 TSFM 友好的 stationary-Δ 数据.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B1F3A"/>
                </a:solidFill>
                <a:latin typeface="Microsoft YaHei"/>
              </a:rPr>
              <a:t>→ 在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缺乏闭环控制的工艺</a:t>
            </a:r>
            <a:r>
              <a:rPr sz="1200" b="0">
                <a:solidFill>
                  <a:srgbClr val="0B1F3A"/>
                </a:solidFill>
                <a:latin typeface="Microsoft YaHei"/>
              </a:rPr>
              <a:t> (例如某些化学反应器、生物反应器), TSFM 单变量的优势会大打折扣 ⇒ 必须用 multivariate + 物理模型混合.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VIII · 风险与边界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风险清单 · 单变量 TSFM 在 ZJSH 上可能出错的地方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哪怕 Task A 适合单变量, 工程上仍要警惕这些情况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17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82880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9047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Microsoft YaHei"/>
              </a:rPr>
              <a:t>R1 · 训练数据中过渡形态有限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2880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ZJSH 24 个过渡都来自类似工艺. 真正『新型』过渡 (例: 操作员失误 / 设备故障) 不在训练分布.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13055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缓解: 在线 Mahalanobis 残差监控 (BGMM thresh) 触发降级模式.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182880" cy="960120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49631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6E18"/>
                </a:solidFill>
                <a:latin typeface="Microsoft YaHei"/>
              </a:rPr>
              <a:t>R2 · OP 突变期 (Δ 不再 i.i.d.)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3464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OP 改变后的 1-3 步, PV 的 Δ 出现『突跳』, 暂时违反 marginal-stationary 假设.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3639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缓解: 检测到 OP 跳变 ⇒ 在该 horizon 上拒绝 TSFM 单变量预测, 切到 multivariate.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29000"/>
            <a:ext cx="182880" cy="9601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021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3FA0"/>
                </a:solidFill>
                <a:latin typeface="Microsoft YaHei"/>
              </a:rPr>
              <a:t>R3 · 测量噪声 / 数据缺失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4048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若 PI10102 传感器有间歇性故障, 单变量的 ICL 会被噪声历史误导.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4223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缓解: 采用 Robust TSFM 变体 (Lag-Llama, Chronos-Bolt) + 异常值过滤前处理.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182880" cy="960120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0799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7E8A"/>
                </a:solidFill>
                <a:latin typeface="Microsoft YaHei"/>
              </a:rPr>
              <a:t>R4 · Conformal 校准的 i.i.d. 假设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标准 conformal 要求 calibration 与 test 同分布; 跨过渡 marginal 弱差异可能轻微违反.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4807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缓解: 用 Mondrian conformal (按工况分组) 或 adaptive conformal (在线更新).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40680"/>
            <a:ext cx="11247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440680"/>
            <a:ext cx="182880" cy="9601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5138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8B1A"/>
                </a:solidFill>
                <a:latin typeface="Microsoft YaHei"/>
              </a:rPr>
              <a:t>R5 · 长 horizon 预测的复合误差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5216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TSFM 自回归预测在 horizon &gt; 96 步时误差累积 ⇒ Hurst 略 &gt; 0.5 工况上更明显.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15391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B1F3A"/>
                </a:solidFill>
                <a:latin typeface="Microsoft YaHei"/>
              </a:rPr>
              <a:t>缓解: 限制 horizon ≤ 60 步; 长 horizon 切换到分级预测 (粗-细 cascade).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VIII · 风险与边界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和『反应器场景』PPT 的关系 · 看似矛盾, 实则统一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前 PPT 说『单变量不够』, 现在说『单变量够用』 — 是不是矛盾?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18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00" cy="2697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反应器场景 PPT (前)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场景: 反应器, 进料组分 c(t) 突变.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观测: 仅温度 T(t).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结论: 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Stark 1999 — c(t) 不可识别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→ 单变量不够 是 </a:t>
            </a:r>
            <a:r>
              <a:rPr sz="1100" b="1">
                <a:solidFill>
                  <a:srgbClr val="C0392B"/>
                </a:solidFill>
                <a:latin typeface="Microsoft YaHei"/>
              </a:rPr>
              <a:t>数学上必然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关键差异: 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反应器场景 隐含 假设组分是 不可测的 外生扰动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此时 σ²(T(t+h) | T_past) ≫ 0 (硬下界).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486400" cy="269748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5486400" cy="5029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88B1A"/>
                </a:solidFill>
                <a:latin typeface="Microsoft YaHei"/>
              </a:rPr>
              <a:t>ZJSH 多工况过渡 (本 PPT)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场景: 工厂, OP 变化驱动工况切换.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观测: 16 变量 (PV + OP).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结论: 任务 A (内部轨迹) </a:t>
            </a:r>
            <a:r>
              <a:rPr sz="1200" b="1">
                <a:solidFill>
                  <a:srgbClr val="2E8B57"/>
                </a:solidFill>
                <a:latin typeface="Microsoft YaHei"/>
              </a:rPr>
              <a:t>单变量够用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;  任务 B (预警) 必须 multivariate.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33A47"/>
                </a:solidFill>
                <a:latin typeface="Microsoft YaHei"/>
              </a:rPr>
              <a:t>→ 任务 A 在 Task A 上 </a:t>
            </a:r>
            <a:r>
              <a:rPr sz="1100" b="1">
                <a:solidFill>
                  <a:srgbClr val="2E8B57"/>
                </a:solidFill>
                <a:latin typeface="Microsoft YaHei"/>
              </a:rPr>
              <a:t>单变量统计上充分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.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0B1F3A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Microsoft YaHei"/>
              </a:rPr>
              <a:t>关键差异: </a:t>
            </a:r>
            <a:r>
              <a:rPr sz="1100" b="0">
                <a:solidFill>
                  <a:srgbClr val="333A47"/>
                </a:solidFill>
                <a:latin typeface="Microsoft YaHei"/>
              </a:rPr>
              <a:t>ZJSH 中 已经进入过渡 后, </a:t>
            </a:r>
            <a:r>
              <a:rPr sz="1100" b="1">
                <a:solidFill>
                  <a:srgbClr val="E88B1A"/>
                </a:solidFill>
                <a:latin typeface="Microsoft YaHei"/>
              </a:rPr>
              <a:t>OP 干预的影响已编码在 PV 历史里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4A5568"/>
                </a:solidFill>
                <a:latin typeface="Microsoft YaHei"/>
              </a:rPr>
              <a:t>ICL 可以从 PI10102 context 反推 OP 信号.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51960"/>
            <a:ext cx="11247120" cy="219456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统一原理: 单变量是否够用 = 因 (上游驱动) 是否在 PV 历史中已经留痕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FFFFFF"/>
                </a:solidFill>
                <a:latin typeface="Microsoft YaHei"/>
              </a:rPr>
              <a:t>过渡 内部 (PV 已响应):</a:t>
            </a:r>
            <a:r>
              <a:rPr sz="1200" b="0">
                <a:solidFill>
                  <a:srgbClr val="DCE3F0"/>
                </a:solidFill>
                <a:latin typeface="Microsoft YaHei"/>
              </a:rPr>
              <a:t> 上游 OP 已经把信号写进 PI10102 历史 ⇒ 单变量充分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FFFFFF"/>
                </a:solidFill>
                <a:latin typeface="Microsoft YaHei"/>
              </a:rPr>
              <a:t>过渡 之前 (PV 未响应) 的预警:</a:t>
            </a:r>
            <a:r>
              <a:rPr sz="1200" b="0">
                <a:solidFill>
                  <a:srgbClr val="DCE3F0"/>
                </a:solidFill>
                <a:latin typeface="Microsoft YaHei"/>
              </a:rPr>
              <a:t> 上游 OP 信号尚未传到 PV ⇒ 单变量不充分, 必须看 OP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E88B1A"/>
                </a:solidFill>
                <a:latin typeface="Microsoft YaHei"/>
              </a:rPr>
              <a:t>• </a:t>
            </a:r>
            <a:r>
              <a:rPr sz="1300" b="1">
                <a:solidFill>
                  <a:srgbClr val="FFFFFF"/>
                </a:solidFill>
                <a:latin typeface="Microsoft YaHei"/>
              </a:rPr>
              <a:t>反应器场景 (组分不可测):</a:t>
            </a:r>
            <a:r>
              <a:rPr sz="1200" b="0">
                <a:solidFill>
                  <a:srgbClr val="DCE3F0"/>
                </a:solidFill>
                <a:latin typeface="Microsoft YaHei"/>
              </a:rPr>
              <a:t> 上游驱动 物理上 不存在于观测中 ⇒ 任何时候单变量都不充分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DCE3F0"/>
                </a:solidFill>
                <a:latin typeface="Microsoft YaHei"/>
              </a:rPr>
              <a:t>→ 三个 PPT 的结论可以用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一个公式</a:t>
            </a:r>
            <a:r>
              <a:rPr sz="1300" b="0">
                <a:solidFill>
                  <a:srgbClr val="DCE3F0"/>
                </a:solidFill>
                <a:latin typeface="Microsoft YaHei"/>
              </a:rPr>
              <a:t> 统一: 看『因果链上游』是否进入了观测序列.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IX · 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工程部署 pipeline · 从 ZJSH 到生产线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6 阶段, 8-10 周首版上线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19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2E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1
数据 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1 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确认 24 过渡的标签质量
• OP 与 PV 的对齐 / 时延校准
• 划分 hold-out 6 过渡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31719" y="3474720"/>
            <a:ext cx="45720" cy="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377439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39" y="1417320"/>
            <a:ext cx="1874519" cy="960120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79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2
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599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599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1 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599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单变量 zero-shot TSFM
• ARIMA / 上一值
• 输出 MAE / coverage 基线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51958" y="3474720"/>
            <a:ext cx="45720" cy="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297678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8" y="1417320"/>
            <a:ext cx="1874519" cy="960120"/>
          </a:xfrm>
          <a:prstGeom prst="rect">
            <a:avLst/>
          </a:prstGeom>
          <a:solidFill>
            <a:srgbClr val="4F8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8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3
Task A 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38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38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2 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38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单变量 TSFM + LoRA
• Conformal 校准
• Hold-out 验证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72197" y="3474720"/>
            <a:ext cx="45720" cy="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217917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17" y="1417320"/>
            <a:ext cx="1874519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7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4
Task B 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77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7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2 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77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TimeXer + Tier1+2 OP
• 二分类 head
• ROC-AUC / lead time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092436" y="3474720"/>
            <a:ext cx="45720" cy="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138156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56" y="1417320"/>
            <a:ext cx="1874519" cy="960120"/>
          </a:xfrm>
          <a:prstGeom prst="rect">
            <a:avLst/>
          </a:prstGeom>
          <a:solidFill>
            <a:srgbClr val="16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6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5
Task C 监控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16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16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1 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16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残差 + Mahalanobis
• 阈值校准
• Fallback 触发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012675" y="3474720"/>
            <a:ext cx="45720" cy="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0058395" y="1417320"/>
            <a:ext cx="187451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58395" y="1417320"/>
            <a:ext cx="1874519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49835" y="1508760"/>
            <a:ext cx="16916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Phase 6
上线 + 监控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95555" y="2468880"/>
            <a:ext cx="1600199" cy="36576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95555" y="2468880"/>
            <a:ext cx="1600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Microsoft YaHei"/>
              </a:rPr>
              <a:t>时长: 持续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55" y="2971800"/>
            <a:ext cx="160019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A47"/>
                </a:solidFill>
                <a:latin typeface="Microsoft YaHei"/>
              </a:rPr>
              <a:t>• 实时残差告警
• 每月增量 LoRA fine-tune
• 性能 dashboard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0B1F3A"/>
                </a:solidFill>
                <a:latin typeface="Microsoft YaHei"/>
              </a:rPr>
              <a:t>总周期 ~ 8-10 周到首版上线; 三任务 head 共享 backbone, 训练成本可控.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IX · 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预期效果 · 基于 ZJSH 实证 + 文献基准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三个任务上, 相对 baseline 的合理改善幅度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20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2468880" cy="14630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Task A · 内部轨迹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508760"/>
            <a:ext cx="275844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1600200"/>
            <a:ext cx="2758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vs ARIMA /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057400"/>
            <a:ext cx="275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2E8B57"/>
                </a:solidFill>
                <a:latin typeface="Microsoft YaHei"/>
              </a:rPr>
              <a:t>MAE ↓ 35-55%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8840" y="1508760"/>
            <a:ext cx="275844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8840" y="1600200"/>
            <a:ext cx="2758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vs supervised PatchTST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8840" y="2057400"/>
            <a:ext cx="275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2E8B57"/>
                </a:solidFill>
                <a:latin typeface="Microsoft YaHei"/>
              </a:rPr>
              <a:t>MAE ↓ 5-15%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08720" y="1508760"/>
            <a:ext cx="275844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8720" y="1600200"/>
            <a:ext cx="2758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覆盖率 P10/P90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8720" y="2057400"/>
            <a:ext cx="275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2E8B57"/>
                </a:solidFill>
                <a:latin typeface="Microsoft YaHei"/>
              </a:rPr>
              <a:t>0.85 - 0.92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112471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971800"/>
            <a:ext cx="2468880" cy="1463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7180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Task B · 早期预警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063240"/>
            <a:ext cx="275844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3154680"/>
            <a:ext cx="2758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vs PV-only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611880"/>
            <a:ext cx="275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Microsoft YaHei"/>
              </a:rPr>
              <a:t>AUC: 0.62 → 0.85+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58840" y="3063240"/>
            <a:ext cx="275844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58840" y="3154680"/>
            <a:ext cx="2758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vs Tier1 OP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58840" y="3611880"/>
            <a:ext cx="275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Microsoft YaHei"/>
              </a:rPr>
              <a:t>AUC +5-10 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08720" y="3063240"/>
            <a:ext cx="275844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08720" y="3154680"/>
            <a:ext cx="2758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Lead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8720" y="3611880"/>
            <a:ext cx="275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Microsoft YaHei"/>
              </a:rPr>
              <a:t>5 - 30 分钟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26280"/>
            <a:ext cx="112471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526280"/>
            <a:ext cx="2468880" cy="1463040"/>
          </a:xfrm>
          <a:prstGeom prst="rect">
            <a:avLst/>
          </a:prstGeom>
          <a:solidFill>
            <a:srgbClr val="E06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526280"/>
            <a:ext cx="24688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Task C · OOD 检测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4617720"/>
            <a:ext cx="275844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4709160"/>
            <a:ext cx="2758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vs 无监控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5166360"/>
            <a:ext cx="275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06E18"/>
                </a:solidFill>
                <a:latin typeface="Microsoft YaHei"/>
              </a:rPr>
              <a:t>FP/月: ~0;  漏报率 &lt; 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58840" y="4617720"/>
            <a:ext cx="275844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58840" y="4709160"/>
            <a:ext cx="2758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残差阈值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58840" y="5166360"/>
            <a:ext cx="275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06E18"/>
                </a:solidFill>
                <a:latin typeface="Microsoft YaHei"/>
              </a:rPr>
              <a:t>Mahalanobis P95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08720" y="4617720"/>
            <a:ext cx="275844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08720" y="4709160"/>
            <a:ext cx="2758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A5568"/>
                </a:solidFill>
                <a:latin typeface="Microsoft YaHei"/>
              </a:rPr>
              <a:t>降级触发率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08720" y="5166360"/>
            <a:ext cx="2758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06E18"/>
                </a:solidFill>
                <a:latin typeface="Microsoft YaHei"/>
              </a:rPr>
              <a:t>&lt; 2% 时间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0B1F3A"/>
                </a:solidFill>
                <a:latin typeface="Microsoft YaHei"/>
              </a:rPr>
              <a:t>→ 数字基于 GIFT-Eval / Chronos / Moirai 公开实证;  实际值需在 ZJSH hold-out 上确认.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PART X · 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一句话决策规则 · 单变量 vs 多变量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基于 ZJSH 实证总结的简单工程规则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21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417320"/>
            <a:ext cx="7589520" cy="64008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41732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E88B1A"/>
                </a:solidFill>
                <a:latin typeface="Microsoft YaHei"/>
              </a:rPr>
              <a:t>Q1: 你要预测什么?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286000" y="2057400"/>
            <a:ext cx="1554480" cy="685800"/>
          </a:xfrm>
          <a:prstGeom prst="bentConnector3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2057400"/>
            <a:ext cx="0" cy="685800"/>
          </a:xfrm>
          <a:prstGeom prst="bentConnector3">
            <a:avLst/>
          </a:prstGeom>
          <a:ln w="25400">
            <a:solidFill>
              <a:srgbClr val="E88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21040" y="2057400"/>
            <a:ext cx="1554480" cy="685800"/>
          </a:xfrm>
          <a:prstGeom prst="bentConnector3">
            <a:avLst/>
          </a:prstGeom>
          <a:ln w="25400">
            <a:solidFill>
              <a:srgbClr val="6B3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6888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2E8B57"/>
                </a:solidFill>
                <a:latin typeface="Microsoft YaHei"/>
              </a:rPr>
              <a:t>已进入过渡的轨迹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E88B1A"/>
                </a:solidFill>
                <a:latin typeface="Microsoft YaHei"/>
              </a:rPr>
              <a:t>稳态时预警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148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6B3FA0"/>
                </a:solidFill>
                <a:latin typeface="Microsoft YaHei"/>
              </a:rPr>
              <a:t>新工况 / 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743200"/>
            <a:ext cx="27432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274320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432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✓ 单变量 TSFM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38328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0B1F3A"/>
                </a:solidFill>
                <a:latin typeface="Microsoft YaHei"/>
              </a:rPr>
              <a:t>PI10102 univariate
zero-shot 或 LoRA
+ Conformal CI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4572000"/>
            <a:ext cx="246888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5720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333A47"/>
                </a:solidFill>
                <a:latin typeface="Microsoft YaHei"/>
              </a:rPr>
              <a:t>ZJSH KS=18.84% 支持
ADF/KPSS 全 stationary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743200"/>
            <a:ext cx="27432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2743200"/>
            <a:ext cx="2743200" cy="50292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27432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Multivariate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38328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0B1F3A"/>
                </a:solidFill>
                <a:latin typeface="Microsoft YaHei"/>
              </a:rPr>
              <a:t>TimeXer / Moirai
PI10102 + 5-9 个 OP
二分类 head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4572000"/>
            <a:ext cx="246888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5720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333A47"/>
                </a:solidFill>
                <a:latin typeface="Microsoft YaHei"/>
              </a:rPr>
              <a:t>OP KS 75-87% 支持
Leading 因果链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2743200"/>
            <a:ext cx="27432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3920" y="2743200"/>
            <a:ext cx="2743200" cy="5029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27432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TSFM + 监控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38328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0B1F3A"/>
                </a:solidFill>
                <a:latin typeface="Microsoft YaHei"/>
              </a:rPr>
              <a:t>Backbone + 残差监控
Mahalanobis 阈值
Fallback 机制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4572000"/>
            <a:ext cx="246888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457200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333A47"/>
                </a:solidFill>
                <a:latin typeface="Microsoft YaHei"/>
              </a:rPr>
              <a:t>BGMM 思路用到在线
+ 物理模型兜底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86400"/>
            <a:ext cx="11247120" cy="960120"/>
          </a:xfrm>
          <a:prstGeom prst="rect">
            <a:avLst/>
          </a:prstGeom>
          <a:solidFill>
            <a:srgbClr val="14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5778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Rule of thumb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如果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上游驱动信号已经在 PV 历史中留下印迹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 → 单变量 TSFM 够;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如果 </a:t>
            </a:r>
            <a:r>
              <a:rPr sz="1300" b="1">
                <a:solidFill>
                  <a:srgbClr val="E88B1A"/>
                </a:solidFill>
                <a:latin typeface="Microsoft YaHei"/>
              </a:rPr>
              <a:t>上游驱动尚未传到 PV (预警场景) 或 物理上不可观测 (反应器场景)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 → 必须 multivariate.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8B1A"/>
                </a:solidFill>
                <a:latin typeface="Microsoft YaHei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Microsoft YaHei"/>
              </a:rPr>
              <a:t>最终回答你的两个问题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4A5568"/>
                </a:solidFill>
                <a:latin typeface="Microsoft YaHei"/>
              </a:rPr>
              <a:t>基于 ZJSH 实证 + 三任务分解 + 因果链分析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0" cy="2800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4A5568"/>
                </a:solidFill>
                <a:latin typeface="Microsoft YaHei"/>
              </a:rPr>
              <a:t>22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Microsoft YaHei"/>
              </a:rPr>
              <a:t>TSFM 在多工况过渡过程中的潜力 · ZJSH 实证 · Jinsong Zhao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777240" cy="1554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7772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508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TSFM 在多工况过渡过程预测预警中 是否有潜力?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8745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Microsoft YaHei"/>
              </a:rPr>
              <a:t>✓ 有, 而且潜力很大 — 但必须分解任务后看.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317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ZJSH 实证显示: PI10102 在 Δ 空间跨工况近似 i.i.d. (KS=18.84%) — 这正好是 TSFM 的 sweet spot. ICL + RevIN + Patching + 闭环控制带来的 stationary-Δ 协同发挥效用. 三任务: A (内部轨迹) ✓ 高潜力;  B (预警) ✓ 高潜力;  C (新工况) △ 中等潜力.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112471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777240" cy="1554480"/>
          </a:xfrm>
          <a:prstGeom prst="rect">
            <a:avLst/>
          </a:prstGeom>
          <a:solidFill>
            <a:srgbClr val="E88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7772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00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单变量 TSFM (主流模式) 此时是否更合适?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8B1A"/>
                </a:solidFill>
                <a:latin typeface="Microsoft YaHei"/>
              </a:rPr>
              <a:t>答案分场景: 任务 A ✓ 是;  任务 B ✗ 否;  任务 C △ 部分.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2336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任务 A 上 单变量是最优的, 因为 OP 的影响已经写进 PV 历史 + ICL 自动识别 regime + Channel-Indep 放大有效数据 16×. 任务 B 上 必须用 multivariate (Tier 1+2 OP 协变量), 因为预警必须看上游因果信号. 任务 C 上 单变量 TSFM 比 supervised 韧性强, 但需要外加 OOD 检测层.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00600"/>
            <a:ext cx="112471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00600"/>
            <a:ext cx="777240" cy="155448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7772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</a:rPr>
              <a:t>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B1F3A"/>
                </a:solidFill>
                <a:latin typeface="Microsoft YaHei"/>
              </a:rPr>
              <a:t>为什么这是合理的而不是矛盾的?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257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3FA0"/>
                </a:solidFill>
                <a:latin typeface="Microsoft YaHei"/>
              </a:rPr>
              <a:t>因果链统一原则: 看上游驱动是否已进入观测序列.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71500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A47"/>
                </a:solidFill>
                <a:latin typeface="Microsoft YaHei"/>
              </a:rPr>
              <a:t>若驱动已经在 PV 历史中留下印迹 (内部轨迹) → 单变量充分;  若驱动尚未传到 PV (预警) → multivariate 必要;  若驱动物理上不可观测 (反应器组分) → multivariate 仍不够, 需加传感器. 三个 PPT 的结论由这一原则统一.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