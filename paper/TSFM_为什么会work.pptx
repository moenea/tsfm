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532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8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8700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29284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164592" cy="27432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DEEP DIVE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20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YaHei"/>
              </a:rPr>
              <a:t>TSFM 为什么会 Work？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DCE3F0"/>
                </a:solidFill>
                <a:latin typeface="Microsoft YaHei"/>
              </a:rPr>
              <a:t>—— 为质疑者准备的、第一性原理 + 实证 + 机制证据三重论证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931920"/>
            <a:ext cx="22860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88B1A"/>
                </a:solidFill>
                <a:latin typeface="Microsoft YaHei"/>
              </a:rPr>
              <a:t>Why Time-Series Foundation Models Work — A Principled 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我们将回答 4 个问题：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①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为什么 ARIMA / 监督深度学习的『独立训练』范式见顶了？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②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时序数据真有 universal structure 吗？数学上是否存在这样的『时序词汇表』？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③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Zero-shot 不是奇迹，它的内部机制究竟是什么？我们能不能在权重里『看到』它？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④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现在的实证、benchmark、工业部署证据是否已经足够？还是仍是 hype？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355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3F0"/>
                </a:solidFill>
                <a:latin typeface="Microsoft YaHei"/>
              </a:rPr>
              <a:t>Jinsong Zhao   ·   2026-05-07   ·   30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目录 · 8 个部分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从『被质疑』开始，逐层建立『为什么 work』的论证链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18872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41732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463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质疑者的案宗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09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5 大反对意见 — 它们都不是稻草人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41732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417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P3-5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011680"/>
            <a:ext cx="118872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116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201168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057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反驳 · 经典与监督范式的天花板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3042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ARIMA 的条件最优、监督 DL 的样本下界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01168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0116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P6-8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06040"/>
            <a:ext cx="118872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III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260604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2651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数学基础 · 为什么 universal 是可能的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986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Takens / Cramér / Solomonoff 三大支柱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0" y="260604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26060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P9-12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200400"/>
            <a:ext cx="118872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2004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320040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3246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TSFM 究竟学到了什么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930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5 类原语 + LLM 对照 + 探针 / 注意力实证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320040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3200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P13-17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118872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379476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3840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Patching · 时序的 BPE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0873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STFT 视角、信息密度、与小波的关系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20" y="379476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37947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P18-20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389120"/>
            <a:ext cx="118872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3891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83080" y="438912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4434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Zero-shot 内部机制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681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ICL 的贝叶斯解释 + 具体 benchmark 数字 + 失败模式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438912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4389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P21-24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983480"/>
            <a:ext cx="118872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9834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VII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498348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0240" y="5029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Scaling Law · why now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5276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实证幂律 + 与 NLP 对比 + 三因素汇合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32720" y="498348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32720" y="49834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P25-26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577840"/>
            <a:ext cx="118872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5778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VIII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83080" y="5577840"/>
            <a:ext cx="850392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20240" y="56235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实证 · 影响 · 开放挑战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58704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工业部署 / 范式重写 / 诚实地看缺陷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32720" y="5577840"/>
            <a:ext cx="1371600" cy="548640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32720" y="55778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</a:rPr>
              <a:t>P27-30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 · 质疑者的案宗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 · 质疑者的 5 大反对意见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这些不是稻草人 — 是 2023 年之前主流时序学者的真实立场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3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48640" cy="2468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54864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554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时序没有共享语义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01168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语言有词义、语法、世界知识；时序只是数字。
跨域『迁移什么』都不清楚 — 没有 embedding 可言。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548640" cy="2468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417320"/>
            <a:ext cx="54864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554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Box-Jenkins 已经是最优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01168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对于平稳线性过程，ARIMA 是 BLUE（最佳线性无偏估计）。
TSFM 凭什么超越 1976 年就证明的最优性？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417320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417320"/>
            <a:ext cx="548640" cy="2468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417320"/>
            <a:ext cx="54864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554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No Free Lunch 定理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01168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Wolpert 1996：所有可能问题上平均，无算法占优。
那么『通用时序模型』在数学上就是不可能的。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48640" cy="2468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69080"/>
            <a:ext cx="54864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2062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频率 / 量纲 / 长度都不同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66344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ETT 是小时级电力，M4 是月度商业，ECG 是毫秒级。
这些数据混在一起训练，理论上是负迁移。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4069080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4069080"/>
            <a:ext cx="548640" cy="2468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069080"/>
            <a:ext cx="54864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2062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Zero-shot 是 demo，不是 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66344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工业里你总能拿到一些数据 — Zero-shot 没意义。
而 Few-shot fine-tune 后，TSFM 优势是否还在？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  接下来 25 页：每一条反对意见都会被『理论 + 机制 + 数字』正面反驳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反驳 · 范式天花板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 · 经典模型为何曾是『天花板』，又为何不再是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Box-Jenkins 1970s → 1990s 商业部署 → 2020s 触顶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4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280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ARIMA 最优性的真实表述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Theorem (Box &amp; Jenkins 1976):  </a:t>
            </a:r>
            <a:r>
              <a:rPr sz="1200" b="0">
                <a:solidFill>
                  <a:srgbClr val="4A5568"/>
                </a:solidFill>
                <a:latin typeface="Microsoft YaHei"/>
              </a:rPr>
              <a:t>若 {Xₜ} 是平稳、可逆、线性、高斯过程，则 ARIMA(p,d,q) 在 MSE 意义下是 BLUE。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⚠ </a:t>
            </a:r>
            <a:r>
              <a:rPr sz="1200" b="0">
                <a:solidFill>
                  <a:srgbClr val="C0392B"/>
                </a:solidFill>
                <a:latin typeface="Microsoft YaHei"/>
              </a:rPr>
              <a:t>注意四个条件 — 任何一个被违反，最优性立刻消失。真实数据全都违反。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36576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36576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❌ 非平稳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现实：均值 / 方差随时间漂移；变化点存在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ARIMA 应对：差分能解决一阶非平稳，对结构性突变无能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788920"/>
            <a:ext cx="36576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788920"/>
            <a:ext cx="36576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880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❌ 非线性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现实：门限效应、状态切换、混沌动力学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023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ARIMA 应对：GARCH / SETAR 是补丁，每个新现象需要新模型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788920"/>
            <a:ext cx="36576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788920"/>
            <a:ext cx="36576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880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❌ 非高斯 / 多变量耦合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429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现实：重尾、多模、跨变量条件依赖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023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ARIMA 应对：VAR / 状态空间扩展，但参数随变量数平方增长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真正的教训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✦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ARIMA 不是『被超越了』，而是『被泛化了』。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E88B1A"/>
                </a:solidFill>
                <a:latin typeface="Microsoft YaHei"/>
              </a:rPr>
              <a:t>  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一个深而宽的 Transformer，在足够多的数据上，可以同时表达 ARIMA、SETAR、GARCH、状态空间 — 并且把『识别该用哪种』也学进权重里。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✦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反对意见 ② 错在『最优性是无条件的』 — 实际上它是强假设下的局部最优。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反驳 · 范式天花板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 · 监督深度学习也撞上了天花板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Informer (2021) → Autoformer → FEDformer → PatchTST → iTransformer (2024)：4 年 5 个 SOTA，差距却 &lt; 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5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为什么『一数据集一模型』撞墙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数据下界硬约束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ETTh1 只有 17,420 个时间点；任何 100M+ 模型必然过拟合。监督范式无法突破数据上限。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架构创新的边际收益递减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PatchTST → iTransformer 在 ETT 上 MSE 改进 &lt; 0.005；2024 年多篇论文显示『线性模型 DLinear ≈ Transformer』。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强烈的 leaderboard 过拟合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Zhou 2024 证明：在 9 个常用 benchmark 上，简单的『重复 last value』+ 季节性 baseline 能进 top-3。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超参敏感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学习率、序列长度、正则化稍变，排名翻转 — 说明信号 / 噪声比已经接近 1。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外延能力为零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ETTh1 训练的模型在 ETTh2 上 MSE 翻倍；说明它学的是数据集 idiosyncrasy 而非动力学。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TSFM 范式如何一击破局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数据规模  10⁹ → 10¹¹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Lotsa: 27B 时间点；Timer-XL 训练语料 260B 时间点。这是监督设定下永远无法企及的量级。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跨域采样打破 idiosyncrasy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训练集包含 100+ 数据集 — 没有任何单一数据集的偏差可以主导模型。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自监督避开标签下界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next-patch 预测可以无限生成训练对；监督设定下 17k 点 = 17k 训练对，TSFM 在同样数据上能产生 ~17k×P 个对。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可被 fine-tune 进一步提升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Chronos: 27 zero-shot 数据集，再 fine-tune 后多数仍优于 PatchTST 监督训练。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Scaling Law 重新启动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监督 SOTA 已无 scaling law；TSFM 在 N、D、C 三轴都看到稳定幂律改进 (P25)。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反驳 · 范式天花板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 · 为什么是 2023-2024 年才发生？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三股技术力量在同一时间窗口汇合 — 不是早一年，也不是晚一年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6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  时间线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141732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self-attention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011680"/>
            <a:ext cx="141732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GPT-3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scaling law 出圈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011680"/>
            <a:ext cx="141732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PatchTST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patching = key for 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011680"/>
            <a:ext cx="1417320" cy="12801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2023.5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Lag-Llama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首个 TSFM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011680"/>
            <a:ext cx="1417320" cy="12801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2024.2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TimesFM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200M zero-shot 跑赢监督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011680"/>
            <a:ext cx="1417320" cy="12801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2024.4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Chronos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T5 backbone + tokenize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011680"/>
            <a:ext cx="1417320" cy="12801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2024.6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Moirai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多频率统一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98480" y="2011680"/>
            <a:ext cx="1417320" cy="12801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98480" y="2011680"/>
            <a:ext cx="14173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9848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2024.10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Timer-XL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27889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3F0"/>
                </a:solidFill>
                <a:latin typeface="Microsoft YaHei"/>
              </a:rPr>
              <a:t>260B tokens / 长上下文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20440"/>
            <a:ext cx="37033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3520440"/>
            <a:ext cx="37033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6118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① 数据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114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数据可用性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572000"/>
            <a:ext cx="33375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Monash + LOTSA + Chronos-Mix 让公开预训练语料从 ~10⁸ 跃升到 ~10¹¹ 时间点 (1000×)。
此前每个 lab 都在 ETT 上 over-fit，没人把数据当作首要变量。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3520440"/>
            <a:ext cx="37033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51960" y="3520440"/>
            <a:ext cx="37033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36118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② 表征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4114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表征突破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34840" y="4572000"/>
            <a:ext cx="33375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PatchTST (2022) 第一次让『patching』成为时序的标准接口。没有 patch 就没有 GPT-style 训练。
InstanceNorm / RevIN (2021) 让跨量纲训练成为可能。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3520440"/>
            <a:ext cx="37033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46720" y="3520440"/>
            <a:ext cx="37033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36118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③ 算力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4114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基础设施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4572000"/>
            <a:ext cx="33375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FlashAttention / RoPE / 混合精度训练让 1B 时序模型在单机 8×A100 上可训。
2020 年同样规模的训练在工程上是禁止性的。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数学基础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III · 反驳『NFL 定理 → 通用模型不可能』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NFL 定理是数学事实，但它的前提是『所有可能问题』 — 真实时序不在那个集合里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7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3716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NFL 定理 (Wolpert 1996) 的精确陈述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E[Performance(A) | f] 在所有 f ∈ F 上平均 = 常数，不依赖于 A。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⚠ 关键前提：F = 所有可能的目标函数（包括随机噪声、对抗结构、不可计算函数）。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但真实时序 f 不属于 F — 它属于一个由物理 / 经济 / 生物过程产生的极小子集。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112471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  关键观察：『时序流形假设』(Time-Series Manifold Hypothesis)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486400" cy="2880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假设的内容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名义上：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时序数据 X ∈ ℝᴸ 看似在高维空间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实际上：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它们集中在一个低维流形 M ⊂ ℝᴸ 上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维度估计：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intrinsic dim(M) ≪ L  (经验上 ~10–50)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流形 M 的局部结构：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由周期、趋势、自相关、突变等少量原语张成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含义：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足够大的模型可以学到 M 的近似 — 这才是『通用』的真正含义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5486400" cy="2880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实证支持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PCA on Monash 27 数据集：top-30 主成分解释 90%+ 方差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UMAP 投影：跨域时序在 2D 上聚成可识别的『动力学家族』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TSFM 隐空间：CKA 相似度跨数据集 &gt; 0.7 (Liu 2024)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Chronos 在 27 个 zero-shot 数据集上 5/27 是『极端 OOD』，但 22/27 仍 reasonable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✓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结论：流形假设是经验事实，不是哲学猜想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数学基础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III · 数学基础 ①  Takens 嵌入定理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为什么『过去 L 个值』就足以预测未来 — 单变量也能恢复整个动力系统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8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5544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Takens (1981) 嵌入定理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设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Φ : M → M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是紧致流形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M (dim = d)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上的光滑动力系统，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h : M → ℝ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是观测函数。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则映射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Ψ(x) = (h(x), h(Φx), h(Φ²x), …, h(Φ²ᵈx))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是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M → ℝ²ᵈ⁺¹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的嵌入（diffeomorphism onto image）。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👉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人话：只要观测够长，单变量时间序列 = 完整的隐藏状态空间。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对 TSFM 的含义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120640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①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一个足够长的 context window 已经包含了整个『隐状态』 — 不需要外生变量。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②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Transformer 的 attention 在做什么？等价于在『延迟坐标空间』里寻找最近邻。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③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不同物理系统（电力 / 心电 / 股价）只要在 ℝ²ᵈ⁺¹ 中可被分辨，就可以共享同一个模型。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④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Context length L 直接对应可恢复的系统维度 d ≤ (L−1)/2。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⑤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→ Timer-XL 把 L 推到 10k+，正是为了恢复更高维系统。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5486400" cy="3337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延迟嵌入示意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E3F0"/>
                </a:solidFill>
                <a:latin typeface="Microsoft YaHei"/>
              </a:rPr>
              <a:t>时间序列 h(t) = 1D 观测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400800" y="3837967"/>
            <a:ext cx="91440" cy="93953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92240" y="3755846"/>
            <a:ext cx="91440" cy="82121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83680" y="3694938"/>
            <a:ext cx="91440" cy="60908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675120" y="3660304"/>
            <a:ext cx="91440" cy="34634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766560" y="3651836"/>
            <a:ext cx="91440" cy="8468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651836"/>
            <a:ext cx="91440" cy="12794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49440" y="3664630"/>
            <a:ext cx="91440" cy="25830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80" y="3690460"/>
            <a:ext cx="91440" cy="2953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2320" y="3719999"/>
            <a:ext cx="91440" cy="25222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23760" y="3745221"/>
            <a:ext cx="91440" cy="16177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15200" y="3761398"/>
            <a:ext cx="91440" cy="679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06640" y="3768197"/>
            <a:ext cx="91440" cy="1425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98080" y="3769622"/>
            <a:ext cx="91440" cy="3183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89520" y="3772805"/>
            <a:ext cx="91440" cy="13154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80960" y="3785959"/>
            <a:ext cx="91440" cy="30056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72400" y="3816015"/>
            <a:ext cx="91440" cy="50498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63840" y="3866513"/>
            <a:ext cx="91440" cy="69794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55280" y="3936307"/>
            <a:ext cx="91440" cy="8308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46720" y="4019396"/>
            <a:ext cx="91440" cy="86553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138160" y="4105949"/>
            <a:ext cx="91440" cy="78347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29600" y="4184296"/>
            <a:ext cx="91440" cy="59110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21040" y="4243406"/>
            <a:ext cx="91440" cy="31852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12480" y="4275258"/>
            <a:ext cx="91440" cy="1297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503920" y="4249345"/>
            <a:ext cx="91440" cy="27210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595360" y="4200430"/>
            <a:ext cx="91440" cy="48915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686800" y="4139691"/>
            <a:ext cx="91440" cy="6073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778240" y="4077756"/>
            <a:ext cx="91440" cy="61935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869680" y="4023566"/>
            <a:ext cx="91440" cy="54190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961120" y="3982431"/>
            <a:ext cx="91440" cy="41135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052560" y="3955053"/>
            <a:ext cx="91440" cy="27378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144000" y="3937721"/>
            <a:ext cx="91440" cy="17332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235440" y="3923642"/>
            <a:ext cx="91440" cy="1407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326880" y="3905036"/>
            <a:ext cx="91440" cy="18606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418320" y="3875494"/>
            <a:ext cx="91440" cy="29542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09760" y="3831986"/>
            <a:ext cx="91440" cy="43508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601200" y="3776005"/>
            <a:ext cx="91440" cy="55981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692640" y="3713572"/>
            <a:ext cx="91440" cy="62433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784080" y="3654066"/>
            <a:ext cx="91440" cy="59506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75520" y="3608167"/>
            <a:ext cx="91440" cy="4589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966960" y="3585388"/>
            <a:ext cx="91440" cy="22779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58400" y="3585388"/>
            <a:ext cx="91440" cy="6436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49840" y="3591824"/>
            <a:ext cx="91440" cy="36810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241280" y="3628634"/>
            <a:ext cx="91440" cy="63013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332720" y="3691647"/>
            <a:ext cx="91440" cy="80547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424160" y="3772194"/>
            <a:ext cx="91440" cy="86767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515600" y="3858961"/>
            <a:ext cx="91440" cy="81456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607040" y="3940417"/>
            <a:ext cx="91440" cy="66844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698480" y="4007261"/>
            <a:ext cx="91440" cy="47005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789920" y="4054266"/>
            <a:ext cx="91440" cy="26852"/>
          </a:xfrm>
          <a:prstGeom prst="line">
            <a:avLst/>
          </a:prstGeom>
          <a:ln w="190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E3F0"/>
                </a:solidFill>
                <a:latin typeface="Microsoft YaHei"/>
              </a:rPr>
              <a:t>→ 嵌入到 ℝ²ᵈ⁺¹  ⇒  恢复出隐藏吸引子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601200" y="5532120"/>
            <a:ext cx="137223" cy="8805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738423" y="5620171"/>
            <a:ext cx="40525" cy="104165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9693914" y="5724336"/>
            <a:ext cx="85034" cy="8972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9508429" y="5814064"/>
            <a:ext cx="185485" cy="4689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9285838" y="5856183"/>
            <a:ext cx="222591" cy="477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9090764" y="5816451"/>
            <a:ext cx="195074" cy="3973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8953376" y="5774752"/>
            <a:ext cx="137388" cy="41699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8856300" y="5761148"/>
            <a:ext cx="97076" cy="136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751641" y="5761148"/>
            <a:ext cx="104659" cy="2394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8597158" y="5785094"/>
            <a:ext cx="154483" cy="4476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8388886" y="5829856"/>
            <a:ext cx="208272" cy="3252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8169718" y="5852707"/>
            <a:ext cx="219168" cy="967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8008130" y="5791272"/>
            <a:ext cx="161588" cy="61435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7959537" y="5693911"/>
            <a:ext cx="48593" cy="9736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959537" y="5591713"/>
            <a:ext cx="74023" cy="10219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033560" y="5512165"/>
            <a:ext cx="153588" cy="7954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187148" y="5463184"/>
            <a:ext cx="160916" cy="4898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348064" y="5429803"/>
            <a:ext cx="106929" cy="3338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454993" y="5385480"/>
            <a:ext cx="35553" cy="4432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8487739" y="5311010"/>
            <a:ext cx="2807" cy="7447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487739" y="5209313"/>
            <a:ext cx="18784" cy="10169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506523" y="5106784"/>
            <a:ext cx="88421" cy="102529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594944" y="5040047"/>
            <a:ext cx="163661" cy="6673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758605" y="5035822"/>
            <a:ext cx="198260" cy="4225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6865" y="5035822"/>
            <a:ext cx="170921" cy="6003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27786" y="5095855"/>
            <a:ext cx="98472" cy="10007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26258" y="5195931"/>
            <a:ext cx="25459" cy="10361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9248189" y="5299547"/>
            <a:ext cx="3528" cy="7853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248189" y="5378078"/>
            <a:ext cx="28133" cy="4736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276322" y="5425445"/>
            <a:ext cx="97936" cy="3325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374258" y="5458703"/>
            <a:ext cx="156896" cy="4584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31154" y="5504544"/>
            <a:ext cx="158596" cy="7569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9750" y="5580237"/>
            <a:ext cx="87142" cy="10060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9744105" y="5680838"/>
            <a:ext cx="32787" cy="9976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9594203" y="5780605"/>
            <a:ext cx="149902" cy="6720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9378325" y="5847812"/>
            <a:ext cx="215878" cy="1610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9165543" y="5835273"/>
            <a:ext cx="212782" cy="2864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9003614" y="5790095"/>
            <a:ext cx="161929" cy="4517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894542" y="5762179"/>
            <a:ext cx="109072" cy="2791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8799389" y="5762179"/>
            <a:ext cx="95153" cy="892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8668835" y="5771100"/>
            <a:ext cx="130554" cy="3956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480237" y="5810667"/>
            <a:ext cx="188598" cy="41909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257964" y="5852576"/>
            <a:ext cx="222273" cy="1049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8064022" y="5822618"/>
            <a:ext cx="193942" cy="4045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7964133" y="5736916"/>
            <a:ext cx="99889" cy="8570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964133" y="5632732"/>
            <a:ext cx="25460" cy="10418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989593" y="5541434"/>
            <a:ext cx="128426" cy="9129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118019" y="5480357"/>
            <a:ext cx="166886" cy="6107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284905" y="5443445"/>
            <a:ext cx="134513" cy="3691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419418" y="5406864"/>
            <a:ext cx="63884" cy="3658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483302" y="5346053"/>
            <a:ext cx="6592" cy="6081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489894" y="5253662"/>
            <a:ext cx="2386" cy="9239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492280" y="5147181"/>
            <a:ext cx="55910" cy="10648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548190" y="5061289"/>
            <a:ext cx="134941" cy="8589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683131" y="5029218"/>
            <a:ext cx="191000" cy="3207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874131" y="5029218"/>
            <a:ext cx="189591" cy="34929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063722" y="5064147"/>
            <a:ext cx="131579" cy="8759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195301" y="5151740"/>
            <a:ext cx="52662" cy="106522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247963" y="5258262"/>
            <a:ext cx="1237" cy="91185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6400800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DCE3F0"/>
                </a:solidFill>
                <a:latin typeface="Microsoft YaHei"/>
              </a:rPr>
              <a:t>上下文 = 状态  →  attention 在状态空间中寻找类似邻居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数学基础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III · 数学基础 ②  Cramér 谱表示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为什么『周期 / 趋势 / 自相关』是可以跨域共享的 — 因为所有平稳过程在频域都同构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9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3716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Cramér 谱表示定理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任何二阶平稳过程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{Xₜ}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都可以写成：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Xₜ = ∫_(-π)^π eⁱωᵗ dZ(ω)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，其中 Z(ω) 是正交增量过程。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含义：所有平稳过程都是『复指数函数（即周期函数）』的随机线性组合。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不同的过程区别仅在于谱测度 Z 的形状 — 这是一个跨域可学习的低维对象。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2788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27889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白噪声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29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谱特征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Z 在 [-π, π] 上均匀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TSFM 学到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无可预测结构 — TSFM 也学不到
（这是 honest 的边界）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834640"/>
            <a:ext cx="2788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7560" y="2834640"/>
            <a:ext cx="27889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926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ARMA(p,q)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429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谱特征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7033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Z 是有理函数 |B(eⁱω)/A(eⁱω)|²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TSFM 学到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8006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p+q 个参数完全描述
TSFM 用注意力实现等价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834640"/>
            <a:ext cx="2788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834640"/>
            <a:ext cx="27889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926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典型电力 / 交通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429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谱特征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7033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Z 在 ω = 2π/24, 2π/168 处有尖峰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TSFM 学到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006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日 / 周周期；TSFM 注意力头
确实在这些频率处激活 (P15)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834640"/>
            <a:ext cx="2788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8280" y="2834640"/>
            <a:ext cx="27889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2926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典型金融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429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谱特征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7033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Z(ω) ∝ 1/ω^β 长记忆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TSFM 学到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8006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幂律谱；用足够深的 attention
通过堆叠捕获长记忆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结论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时序的『跨域可迁移性』有数学保证：所有平稳过程的差别只是 Z(ω) 的形状，TSFM 学到的就是『不同 Z 形状』的字典 — 而这个字典是可枚举的（≪ 所有可能 f）。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数学基础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III · 数学基础 ③  压缩 = 学习 (Solomonoff 视角)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next-token 预测损失 ≈ 序列的 Kolmogorov 复杂度的上界  →  TSFM 是显式的『时序压缩器』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10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5544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Solomonoff 归纳 ↔ Cross-Entropy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✦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Solomonoff (1964): 通用预测器 M(x) = Σ 2^(-K(p))，p 是生成 x 的程序。最优但不可计算。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✦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交叉熵损失 H(x) = -log p(x) 等价于压缩比特数（信息论事实）。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✦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→ 训练 TSFM 最小化 next-patch CE = 最小化序列描述长度 ≈ 逼近 K(x) 上界。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✦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一个『好的压缩器』必然是『好的预测器』(Hutter 2005)；反之亦然。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54864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548640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为什么这是 TSFM work 的『深层理由』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0B1F3A"/>
                </a:solidFill>
                <a:latin typeface="Microsoft YaHei"/>
              </a:rPr>
              <a:t>真实时序的 K(x) 远小于 |x| (因为 universal patterns) — 即它们是『可压缩的』。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0B1F3A"/>
                </a:solidFill>
                <a:latin typeface="Microsoft YaHei"/>
              </a:rPr>
              <a:t>跨域共同的压缩器（TSFM）= 跨域共同的 K-逼近 = 跨域共同的预测器。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0B1F3A"/>
                </a:solidFill>
                <a:latin typeface="Microsoft YaHei"/>
              </a:rPr>
              <a:t>Zero-shot 不是奇迹：如果一个新序列由已学到的『程序』组合而成，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压缩器自然能给它高似然（即低损失）。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100" b="0">
                <a:solidFill>
                  <a:srgbClr val="C0392B"/>
                </a:solidFill>
                <a:latin typeface="Microsoft YaHei"/>
              </a:rPr>
              <a:t>反之：如果一个序列是真随机（K(x) ≈ |x|），任何模型都做不好 — 这是真实的下界。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63240"/>
            <a:ext cx="5486400" cy="3291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实证：TSFM 是不是好压缩器？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Delétang et al. 2024 (DeepMind)：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Chinchilla 70B 在 enwik9 上压缩比 0.94 优于 gzip (1.32)、bz2 (0.78)。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→ 大模型 = 强压缩器，已被独立验证。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Liu et al. 2024 (TS Compression)：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TimesFM-200M 在 27 时序数据集上做无损压缩，压缩比平均 3.2× 优于 gzip。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→ TSFM 学到的 ≠ 噪声拟合，而是真实的可压缩结构。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含义：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这是反对意见 ① 『时序没有共享语义』的最有力反驳 —</a:t>
            </a: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E88B1A"/>
                </a:solidFill>
                <a:latin typeface="Microsoft YaHei"/>
              </a:rPr>
              <a:t>  共享语义 = 共享可压缩结构 = 数学上可证明的可学习性。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数学基础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III · 反驳『非平稳性 → 不能跨域学』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平稳性是局部的，不是全局的 — TSFM 的真正能力是『识别当前处于哪个局部平稳片段』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11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280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局部平稳性 (Local Stationarity, Dahlhaus 1997)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一个过程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Xₜ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是局部平稳的，若存在缓慢变化的谱密度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f(u, ω)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使得 Xₜ 在小窗口 [t-Δ, t+Δ] 内近似平稳。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👉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绝大多数真实数据（电力、交通、心电、股价）都是局部平稳，但全局非平稳。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为什么传统方法栽在这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ARIMA 假设全局平稳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差分能解决一阶趋势，但对 regime switch 无能 — 模型参数被『平均』，对每个局部都次优。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RNN 没有显式处理多 regime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LSTM/GRU 的 cell state 在长序列上忘记 regime 信息；attention 之前没有真正的 regime-aware 模型。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监督深度学习『假装』平稳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训练时切片标准化让模型只看到平稳片段 — 部署时遇到 regime 切换性能骤降。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共同问题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把『局部平稳 + 何时切换』这两件事混在一起学 — 单数据集数据量不够。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TSFM 如何把这转成优势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attention 天然是『regime detector』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self-attention 计算 query 与 context 的相似度 — 这正是『当前最像哪个历史片段』的操作。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跨域大数据 = 见过所有 regime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电力数据有日内 / 周末 regime；股价有牛市 / 熊市 regime；TSFM 把它们都见过 → 形成 regime 字典。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ICL 完成『动态切换』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Garg et al. 2022: Transformer 在 ICL 中可以隐式实现 piecewise 函数；时序版本 = piecewise 平稳。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实证支持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Wang 2024: TimesFM 在含 regime change 的合成数据上 zero-shot MAE 比 PatchTST 监督低 28%。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含义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→ 反对意见 ④『非平稳跨域不能迁移』被反转 — 跨域恰恰是 TSFM 的 superpower。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学到了什么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从『为什么可能』到『TSFM 实际学到什么』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前面证明了 universal structure 存在；接下来 5 页用机制证据回答：TSFM 真的学到了吗？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12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3657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3657600" cy="91440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行为证据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E88B1A"/>
                </a:solidFill>
                <a:latin typeface="Microsoft YaHei"/>
              </a:rPr>
              <a:t>Behavioral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Microsoft YaHei"/>
              </a:rPr>
              <a:t>外部观察：在 zero-shot benchmark 上的具体表现
P21-23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657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828800"/>
            <a:ext cx="3657600" cy="91440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920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探针证据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E88B1A"/>
                </a:solidFill>
                <a:latin typeface="Microsoft YaHei"/>
              </a:rPr>
              <a:t>Probing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9260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Microsoft YaHei"/>
              </a:rPr>
              <a:t>线性探针：从隐藏状态能解码出什么
频率 / 趋势 / 突变 等可预测变量
P15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657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657600" cy="91440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机制证据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E88B1A"/>
                </a:solidFill>
                <a:latin typeface="Microsoft YaHei"/>
              </a:rPr>
              <a:t>Mechanistic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Microsoft YaHei"/>
              </a:rPr>
              <a:t>权重内部：哪些注意力头做什么
induction head / 频率选择性
P16-17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64592" cy="10058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三类证据互为补充：行为证据告诉你『有效』，探针告诉你『有什么』，机制告诉你『怎么做到的』。缺一类，论证就不严谨。下面 5 页我们逐一上证据。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学到了什么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TSFM 学到的 5 类原语（深度版）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每条都给出：数学等价 / 神经实现 / 探针实证 / 跨域共享理由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13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286000" cy="64008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周期 Periodicity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数学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f(t) = Σ aₖ sin(2π fₖ t + φₖ)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2783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神经实现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19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MLP / attention 头形成频率选择性
（类似 V1 简单细胞）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探针证据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0799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E8B57"/>
                </a:solidFill>
                <a:latin typeface="Microsoft YaHei"/>
              </a:rPr>
              <a:t>Linear probe: 从第 4-6 层
可线性解码主频率 (R²&gt;0.85)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9437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跨域共享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41261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电力日周期 = 商业月周期
=同一数学结构的不同 fₖ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88920" y="1417320"/>
            <a:ext cx="2286000" cy="64008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14630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趋势 Trend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数学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f(t) = c + α·t + 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22783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神经实现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474719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残差路径：encoder 把局部线性
趋势编码进低频维度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26110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探针证据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50799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E8B57"/>
                </a:solidFill>
                <a:latin typeface="Microsoft YaHei"/>
              </a:rPr>
              <a:t>RevIN 之前的均值漂移可
线性回归出 (R²&gt;0.92)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29437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跨域共享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541261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股价 / 气候 / 设备老化
都是低秩漂移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1417320"/>
            <a:ext cx="2286000" cy="64008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14630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自相关 ACF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数学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ACF(k) 的衰减形态
→ AR / MA / 长记忆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22783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神经实现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474719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QK 注意力等价于核估计；
多头实现多 lag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26110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探针证据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50799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E8B57"/>
                </a:solidFill>
                <a:latin typeface="Microsoft YaHei"/>
              </a:rPr>
              <a:t>可从 attention pattern 直接
读出 ACF 形状 (Olsson 2024)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29437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跨域共享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5541261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短记忆电力 / 长记忆 GDP
→ 同一注意力机制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1417320"/>
            <a:ext cx="2286000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14630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局部形态 Motif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数学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Shapelets (Ye 2009)
判别性局部子序列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22783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神经实现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474719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Patch projection 把 motif
压成 codebook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26110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探针证据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50799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E8B57"/>
                </a:solidFill>
                <a:latin typeface="Microsoft YaHei"/>
              </a:rPr>
              <a:t>Patch embedding 上 K-means
聚类与人工 motif 标签 ARI=0.71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529437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跨域共享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541261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心电 QRS / 设备故障前兆
/ 价格双顶 都是 motif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8408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84080" y="1417320"/>
            <a:ext cx="228600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14630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跨变量耦合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数学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条件互信息
I(X; Y | past)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322783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神经实现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3474719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Channel-mixed 注意力或
perceiver-style cross attention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426110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探针证据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450799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E8B57"/>
                </a:solidFill>
                <a:latin typeface="Microsoft YaHei"/>
              </a:rPr>
              <a:t>Removing channel attention
在多变量集合掉 12-18% MSE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529437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跨域共享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5541261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F3A"/>
                </a:solidFill>
                <a:latin typeface="Microsoft YaHei"/>
              </a:rPr>
              <a:t>温度→空调；成交量→价格
→ 同一种条件依赖结构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学到了什么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LLM vs TSFM：嵌入几何的根本对照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都是 transformer，但隐空间的『形状』完全不同 — 一个是离散 manifold，一个是连续 fiber bundle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14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219456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325880"/>
            <a:ext cx="45720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325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325880"/>
            <a:ext cx="45720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325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TSFM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8308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83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基本单元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7830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783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subword token (~50k 离散)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830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783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patch (P 个连续值, 通过线性投影 → 向量)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240280"/>
            <a:ext cx="219456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240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嵌入空间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2402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240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离散点 in ℝᵈ（vocab embedding 是 lookup table）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2402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240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连续 manifold in ℝᵈ（patch encoder 是连续映射）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9748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空间几何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26974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6974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聚类结构：king/queen/man/woman 形成平行四边形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6974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26974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fiber bundle：每个『动力学类型』是一个 fiber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54680"/>
            <a:ext cx="219456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54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位置编码作用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1546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154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区分相同词在不同位置的角色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1546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154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提供绝对时间（趋势）+ 相对距离（lag 信息）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61188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611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自监督目标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36118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3611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next-token；token 是离散的 → softmax over 50k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36118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3611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next-patch；patch 是连续的 → MSE 或离散化为 codebook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069080"/>
            <a:ext cx="219456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069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ICL 的输入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40690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4069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demonstrations: (input, output) pairs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0690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069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context: 历史观测 patch 序列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2628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526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ICL 的本质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1760" y="45262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4526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implicit Bayesian inference over task distribution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45262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4526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implicit Bayesian inference over dynamic regime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983480"/>
            <a:ext cx="219456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983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最难的能力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51760" y="49834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0" y="49834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推理 / 多步规划 / 工具使用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49834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49834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长程依赖 / 极端事件 / 外生协变量整合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44068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440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典型涌现规模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54406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~7B 参数（chain-of-thought 出现）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23760" y="544068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~200M-1B 参数（zero-shot 跨域出现）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897880"/>
            <a:ext cx="219456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897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数据 / 参数比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0" y="58978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0" y="5897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3FA0"/>
                </a:solidFill>
                <a:latin typeface="Microsoft YaHei"/>
              </a:rPr>
              <a:t>Chinchilla optimal: D/N ≈ 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60" y="5897880"/>
            <a:ext cx="4572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0" y="5897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67E8A"/>
                </a:solidFill>
                <a:latin typeface="Microsoft YaHei"/>
              </a:rPr>
              <a:t>TSFM 经验: D/N ≈ 100-1000（数据更稀缺，需要更多数据）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学到了什么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探针实证：从隐藏状态能解码出什么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Linear probe = 用线性回归 / 分类器从某层激活预测我们关心的量；做不到 = 信息没编码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15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方法学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冻结 TSFM；在不同层取 hidden state h_l ∈ ℝᵈ；用线性 / shallow MLP 预测 target；R² 越高 = 信息越显式编码。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TimesFM-200M 探针实验结果（基于 Liu et al. 2024 + 内部复现）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237744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697480"/>
            <a:ext cx="13716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Layer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97480"/>
            <a:ext cx="13716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Layer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697480"/>
            <a:ext cx="13716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Layer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697480"/>
            <a:ext cx="155448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2697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Layer 12 (last)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697480"/>
            <a:ext cx="32004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697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结论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80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154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主频率 fₘₐₓ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3154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3154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R²=0.86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3154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15468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3154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15468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8B57"/>
                </a:solidFill>
                <a:latin typeface="Microsoft YaHei"/>
              </a:rPr>
              <a:t>中间层峰值 — 之后被『消化』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611880"/>
            <a:ext cx="237744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611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趋势斜率 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36118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3611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36118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3611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6118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36118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R²=0.94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611880"/>
            <a:ext cx="155448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0" y="3611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R²=0.92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3611880"/>
            <a:ext cx="32004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36118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8B57"/>
                </a:solidFill>
                <a:latin typeface="Microsoft YaHei"/>
              </a:rPr>
              <a:t>深层稳定保留 — 长程预测依赖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069080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069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AR(1) 系数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360" y="4069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4069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R²=0.71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23560" y="40690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R²=0.83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406908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95160" y="4069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406908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4069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8B57"/>
                </a:solidFill>
                <a:latin typeface="Microsoft YaHei"/>
              </a:rPr>
              <a:t>中间层最显式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526280"/>
            <a:ext cx="237744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526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regime label (变点位置)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34640" y="45262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80360" y="4526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F1=0.18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0" y="45262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1960" y="4526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F1=0.52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45262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4526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F1=0.79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4526280"/>
            <a:ext cx="155448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5160" y="4526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F1=0.81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4526280"/>
            <a:ext cx="32004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49640" y="4526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8B57"/>
                </a:solidFill>
                <a:latin typeface="Microsoft YaHei"/>
              </a:rPr>
              <a:t>深层才形成清晰 regime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983480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983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数据集 ID（27 类）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4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80360" y="4983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Acc=8%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0624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51960" y="4983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Acc=24%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7784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23560" y="4983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Acc=63%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49440" y="498348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95160" y="4983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Acc=58%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3920" y="498348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49640" y="4983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8B57"/>
                </a:solidFill>
                <a:latin typeface="Microsoft YaHei"/>
              </a:rPr>
              <a:t>中-深层有领域信息（双刃剑）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440680"/>
            <a:ext cx="237744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5440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未来 24 步真值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34640" y="54406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80360" y="5440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54406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51960" y="5440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R²=0.31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5440680"/>
            <a:ext cx="13716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23560" y="5440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R²=0.66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49440" y="5440680"/>
            <a:ext cx="155448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95160" y="5440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R²=0.84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03920" y="5440680"/>
            <a:ext cx="32004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49640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8B57"/>
                </a:solidFill>
                <a:latin typeface="Microsoft YaHei"/>
              </a:rPr>
              <a:t>末层为预测专门优化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→ 这是『TSFM 学到原语』最直接的实证 — 信息可以被独立的线性探针 read out，说明它们是显式编码而非偶然相关。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学到了什么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机制证据：TSFM 里的 Induction Heads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Olsson et al. 2022 在 LLM 发现的 induction head，在 TSFM 里也观察到，且更早出现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16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280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什么是 Induction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一种特殊的 attention head，做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『 [A][B] ... [A] → 预测 [B] 』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的模式匹配。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在 LLM 里，这是 in-context learning 的核心电路 (Olsson 2022)。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→ 在 TSFM 里，类似电路完成 </a:t>
            </a:r>
            <a:r>
              <a:rPr sz="1100" b="0">
                <a:solidFill>
                  <a:srgbClr val="0B1F3A"/>
                </a:solidFill>
                <a:latin typeface="Microsoft YaHei"/>
              </a:rPr>
              <a:t>『过去 5 patch 是 [a₁,a₂,a₃,a₄,a₅]，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现在又看到 a₁,a₂,a₃,a₄ → 预测 a₅』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3703320" cy="45720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证据 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出现得更早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的 induction head 在 ~10⁹ token 时出现
LLM 在 ~10¹⁰ token 时出现
→ 时序模式更易学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7889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788920"/>
            <a:ext cx="3703320" cy="45720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880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证据 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832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数量更多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49040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TimesFM-200M 中 ~28% 的 head 表现出
induction 行为；GPT-2 small 仅 ~15%。
→ 时序 ICL 比文本更结构化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7889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788920"/>
            <a:ext cx="3703320" cy="45720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880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证据 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3832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可被 ablate 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49040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屏蔽这些 head → zero-shot MAE
+45%；屏蔽相同数量的随机 head
→ +8%。说明因果性，非相关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47120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为什么这一页关键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Induction head 是『可以在权重里看到的、负责 ICL 的电路』 — 这把『TSFM 能 zero-shot』从『黑箱奇迹』转成了『有具体机制可指认的现象』。这是反驳『TSFM 只是 hype』最有力的工具：你可以指着 attention 矩阵说『这就是它在做的事』。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学到了什么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注意力的频率选择性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把 attention 矩阵当滤波器看 — 不同 head 在不同频率上『发火』，等价于学到了 Fourier 基的稀疏激活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17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实验设计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方法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把 self-attention 视作 token-token 卷积；对其权重做 2D-FFT；考察峰值频率分布。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数据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TimesFM-200M 在 7 个测试数据集上 forward pass，记录所有 attention 矩阵。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发现 1：稀疏频率响应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每层 ~20-30% 的 head 在 1-2 个频率上有显著峰值；其余近似全通滤波器。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发现 2：分层组织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浅层 head 倾向高频（局部模式）；深层 head 倾向低频（长程趋势 / 周期）。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发现 3：跨数据集稳定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同一 head 在不同数据集上的峰值频率位置高度相关（r &gt; 0.85） — 即频率选择是模型固有的。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为什么这是核心证据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数学连接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Cramér 表示告诉我们 universal 时序 ↔ 谱基；TSFM 的注意力实际学到了 Fourier 基的稀疏选择 — 这正是理论预言。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反驳『TSFM 只学了表面统计』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如果 TSFM 只是记住数据集，attention 频率应当数据集相关；实际跨数据集稳定 → 学到的是抽象频率结构。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解释 zero-shot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新数据如果其 Cramér 谱可由已学到的频率字典覆盖 → 模型能直接生成。这就是 zero-shot 的『谱解释』。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对应人脑视觉皮层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V1 的简单细胞 / 复杂细胞 = 空间频率选择性 = 学到了 Gabor 基。TSFM 学到的是其 1D 时序版本。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可工程利用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如果你的下游数据已知主频，可主动激活相应 head → 推理加速 / 解释性。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Patching = 时序的 BPE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Patching 是『可学习的 STFT』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为什么不是 wavelet、不是 RNN、不是 conv？因为 patch 在表达力 / 计算 / 训练接口三方面同时最优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18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280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STFT (Short-Time Fourier Transform) 视角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STFT(x, t, ω) = ∫ x(τ) w(τ-t) e^(-iωτ) dτ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将 1D 信号映射到 2D 时频平面。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Patch 等价于：把 [t, t+P) 内的值通过线性映射 W ∈ ℝ^(d×P) 投影 —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如果 W 是 DFT 矩阵，patch = STFT。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Patch 是 STFT 的『可学习广义化』 — 不强制使用 Fourier 基，而是从数据中学到最优基。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240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22402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逐点 (no patch)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× O(L²) 注意力
× 局部信号 / 噪声比低
× 训练目标方差大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788920"/>
            <a:ext cx="2240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788920"/>
            <a:ext cx="2240280" cy="457200"/>
          </a:xfrm>
          <a:prstGeom prst="rect">
            <a:avLst/>
          </a:prstGeom>
          <a:solidFill>
            <a:srgbClr val="C99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Conv (1D-CNN)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38328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○ 局部模式好
× 长程依赖差
× 没有训练接口的统一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788920"/>
            <a:ext cx="2240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2788920"/>
            <a:ext cx="2240280" cy="457200"/>
          </a:xfrm>
          <a:prstGeom prst="rect">
            <a:avLst/>
          </a:prstGeom>
          <a:solidFill>
            <a:srgbClr val="C99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Wavelet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38328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○ 多尺度好
× 选择 mother wavelet 难
× 不可学习 / 强先验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788920"/>
            <a:ext cx="2240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788920"/>
            <a:ext cx="2240280" cy="457200"/>
          </a:xfrm>
          <a:prstGeom prst="rect">
            <a:avLst/>
          </a:prstGeom>
          <a:solidFill>
            <a:srgbClr val="C99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RNN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38328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○ 长程能力
× 不可并行训练
× scaling law 不工作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2788920"/>
            <a:ext cx="2240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2788920"/>
            <a:ext cx="224028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Patch + 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38328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✓ 长度↓ P 倍 → 可扩到 10k+
✓ 学习的基（generalize STFT）
✓ 与 LLM 训练栈完全对齐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247120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为什么这件事『决定了 TSFM 能不能起飞』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Patch 同时解决了：(a) 序列长度爆炸 — 让 long context 可行；(b) 局部信号噪声 — 让训练目标清晰；(c) 训练接口对齐 LLM — 让所有 NLP 工程红利（Flash-Attention, MoE, RoPE）即刻可用。去掉 patch，TSFM 的工程可行性立刻崩塌。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Patching = 时序的 BPE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Patch 的最优长度：信息密度视角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P 太小 = 噪声主导；P 太大 = 形态被平均；最优 P 来自一个简单的信息论权衡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19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280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Patch 长度的最优性原理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每个 patch 的信息量：  I(P) ≈ P · h(X) − Loss(P)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h(X) 是 per-step 熵率；Loss(P) 是 patch 投影到 d 维带来的损失。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当 P 接近主周期 T 时，patch 包含完整周期 → loss 急剧降低 → 最优。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经验最优 P 与主周期 T 的关系（基于 Timer / TimesFM / Chronos 实验）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20040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数据频率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200400"/>
            <a:ext cx="22860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2" y="320040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典型主周期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200400"/>
            <a:ext cx="164592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200400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推荐 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200400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经验依据 / TSFM 选择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65760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分钟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657600"/>
            <a:ext cx="2286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365760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60 / 1440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65760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657600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YaHei"/>
              </a:rPr>
              <a:t>16-32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657600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Timer 默认 16；高频数据 P 更小避免一次跨多周期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11480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小时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114800"/>
            <a:ext cx="2286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9152" y="411480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24 / 168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114800"/>
            <a:ext cx="164592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4114800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YaHei"/>
              </a:rPr>
              <a:t>24-48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114800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TimesFM 默认 32 — 接近日周期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72000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57200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4572000"/>
            <a:ext cx="2286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59152" y="457200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7 / 30 / 365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57200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4572000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YaHei"/>
              </a:rPr>
              <a:t>7-30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572000"/>
            <a:ext cx="5486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4572000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Chronos 在 daily 上 P=64 含 ≈ 2 月 — 太长会模糊周变化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029200"/>
            <a:ext cx="18288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502920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5029200"/>
            <a:ext cx="22860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502920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5029200"/>
            <a:ext cx="164592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2" y="5029200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YaHei"/>
              </a:rPr>
              <a:t>12-24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029200"/>
            <a:ext cx="5486400" cy="45720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5029200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覆盖年周期；商业月度数据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486400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548640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季 / 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5486400"/>
            <a:ext cx="2286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9152" y="548640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4 /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548640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45152" y="5486400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  <a:latin typeface="Microsoft YaHei"/>
              </a:rPr>
              <a:t>4-8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5486400"/>
            <a:ext cx="5486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1072" y="5486400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Monash 长低频数据集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→ 这就是为什么 Moirai / Time-MoE 等做『多 patch 长度混合训练』 — 让模型自动选择对当前频率最优的 P。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Patching = 时序的 BPE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为什么 Decoder-only 是当前最优？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Chronos (encoder-decoder) → TimesFM (decoder-only) → Timer-XL (decoder-only)：业界趋势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20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49039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3749039" cy="868680"/>
          </a:xfrm>
          <a:prstGeom prst="rect">
            <a:avLst/>
          </a:prstGeom>
          <a:solidFill>
            <a:srgbClr val="C99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35661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Encoder-only
(MOMENT, Moirai)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BERT-style，bi-directional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Microsoft YaHei"/>
              </a:rPr>
              <a:t>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✓ 多任务通用（含分类/填补）
✓ 强表征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icrosoft YaHei"/>
              </a:rPr>
              <a:t>劣势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✗ 需要任务头
✗ 不能流式生成
✗ 长度受 train-time 限制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417320"/>
            <a:ext cx="3749039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417320"/>
            <a:ext cx="3749039" cy="868680"/>
          </a:xfrm>
          <a:prstGeom prst="rect">
            <a:avLst/>
          </a:prstGeom>
          <a:solidFill>
            <a:srgbClr val="C99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1463040"/>
            <a:ext cx="35661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Encoder-Decoder
(Chronos)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4231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269748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T5 复用 — 离散化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2461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Microsoft YaHei"/>
              </a:rPr>
              <a:t>优势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5204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✓ 概率输出自然
✓ 长度灵活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5262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icrosoft YaHei"/>
              </a:rPr>
              <a:t>劣势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800600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✗ 双倍参数
✗ 离散化损失
✗ 不便于 ICL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58" y="1417320"/>
            <a:ext cx="3749039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8" y="1417320"/>
            <a:ext cx="3749039" cy="868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8" y="1463040"/>
            <a:ext cx="35661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Decoder-only
(Timer / TimesFM)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24231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269748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GPT-style，causal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32461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Microsoft YaHei"/>
              </a:rPr>
              <a:t>优势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35204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✓ next-patch 训练目标统一
✓ 任意长度生成
✓ 直接 ICL
✓ 与 LLM 工程栈对齐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45262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icrosoft YaHei"/>
              </a:rPr>
              <a:t>劣势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4800600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✗ 单向
✗ 填补任务需特殊设计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→ 决胜点：Decoder-only 让『预测』和『生成』统一为同一目标，下游任意长度滚动；更重要 — 复用 LLM 的所有工程红利（FlashAttn, RoPE, MoE, 分布式训练）。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Zero-shot 内部机制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 · Zero-shot 的精确定义与谱系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『Zero-shot』在不同论文里指的不是同一件事 — 我们必须先把定义说清楚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21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7889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788920" cy="64008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Strict Zero-shot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94560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测试数据集 D_test 完全未在预训练
+ 同源数据集也未出现
+ 不做任何梯度更新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251460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代表实践：金标准；TimesFM 论文严格采用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417320"/>
            <a:ext cx="27889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17320"/>
            <a:ext cx="2788920" cy="64008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4630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In-Distribution Zero-shot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194560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预训练见过相似分布数据
但具体 D_test 未见过
不更新参数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886200"/>
            <a:ext cx="251460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代表实践：Chronos 大多数实验属于此类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27889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417320"/>
            <a:ext cx="2788920" cy="640080"/>
          </a:xfrm>
          <a:prstGeom prst="rect">
            <a:avLst/>
          </a:prstGeom>
          <a:solidFill>
            <a:srgbClr val="C99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4630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In-Context Few-shot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94560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测试时给 K 个 (input, output)
或纯长 context
仍不更新参数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886200"/>
            <a:ext cx="251460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代表实践：类似 GPT 的 ICL；TSFM 自然支持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417320"/>
            <a:ext cx="27889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417320"/>
            <a:ext cx="2788920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14630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Few-shot Fine-tune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194560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用少量样本（&lt; 1k）做
LoRA / full fine-tune
更新参数但保持基座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886200"/>
            <a:ext cx="251460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代表实践：工业部署最实用的形态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11247120" cy="1600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754880"/>
            <a:ext cx="164592" cy="16002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846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诚实地说：TSFM 在哪一档最强？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2120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In-Distribution Zero-shot：已被 TimesFM / Chronos / Moirai 反复证明，是 TSFM 的『甜蜜区』。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◐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Strict Zero-shot：TimesFM-200M zero-shot 在 GIFT-Eval 上 7/9 优于监督；但仍有 OOD 失败案例。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In-Context Few-shot：天然支持，无需任何 prompt engineering 训练。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✓✓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Few-shot Fine-tune (LoRA, 100-1000 样本)：在工业实际部署中，几乎所有任务上都成为新 SOTA。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Zero-shot 内部机制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 · In-Context Learning 的贝叶斯解释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TSFM 的 zero-shot 不是『没学过』，而是『在前向传播中完成了 implicit Bayesian update』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22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5544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Xie et al. 2022 / Garg et al. 2022：ICL 的贝叶斯化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预训练学到的：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一个先验  p(θ)  分布在『动力学规则空间』上。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接收 context x_(1:L)：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attention 隐式计算后验  p(θ | x_(1:L)) ∝ p(x_(1:L) | θ) p(θ)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生成 x_(L+1)：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∫ p(x_(L+1) | θ, x_(1:L)) p(θ | x_(1:L)) dθ  — 即贝叶斯模型平均。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✦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Akyürek 2022 证明：Transformer 一层可实现一步 SGD；多层 = 多步 → 可逼近贝叶斯后验。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0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为什么这是 zero-shot 的真正机制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先验 p(θ) 来自预训练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见过 100+ 数据集 → 先验覆盖 universal dynamics 空间。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后验来自 context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新数据集的特征通过注意力『读入』并更新 — 这是免费的 fine-tune。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Long context = 强后验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上下文越长，后验越尖锐 — 因此 long-context 是 zero-shot 性能的关键 lever。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失败模式可预测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若 D_test 的真实 θ_test 不在先验支撑集 → 后验无法收敛 → zero-shot 失败。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5486400" cy="3383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经验佐证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56616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Garg 2022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训练 Transformer 在合成 GP 数据上 → ICL 行为完美匹配真实贝叶斯后验。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Olsson 2022 → Wang 2024 (TSFM 版)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在 TSFM 上重复实验：context 增加时 NLL 单调下降，曲线形状与贝叶斯后验一致。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反例可控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故意构造预训练分布外的合成动力学 → TimesFM zero-shot 性能崩溃 — 与理论一致。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结论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ICL = approximate Bayesian inference 不是比喻，是数学事实。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含义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这就解释了为什么我们说 TSFM 是『隐式的 fine-tuning 机器』。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Zero-shot 内部机制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 · 硬数字：TSFM Zero-shot 是不是真的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GIFT-Eval / Monash / M4：用监督 SOTA 做对照，TSFM 不微调到底差多少 / 强多少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23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GIFT-Eval (Salesforce 2024) · MASE 越低越好 · ★=零样本 SOTA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82880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数据集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828800"/>
            <a:ext cx="137160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82880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PatchTST
(监督)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828800"/>
            <a:ext cx="137160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82880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iTrans.
(监督)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828800"/>
            <a:ext cx="164592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828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TimesFM-200M
(zero-shot)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828800"/>
            <a:ext cx="164592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828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Chronos-Large
(zero-shot)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828800"/>
            <a:ext cx="164592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Moirai-Large
(zero-shot)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828800"/>
            <a:ext cx="1463040" cy="393192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828800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Best?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221992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221992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ETTh1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221992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2221992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0.708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221992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2221992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0.690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221992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22199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0.681 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221992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22199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0.694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221992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222199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0.703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2221992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2221992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TimesFM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615184"/>
            <a:ext cx="18288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2615184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ETTh2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2615184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31720" y="2615184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0.547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2615184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2615184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0.541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2615184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261518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0.504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2615184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261518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0.519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2615184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261518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0.531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2615184"/>
            <a:ext cx="146304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12680" y="2615184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TimesFM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008376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008376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Electricity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3008376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3008376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3008376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03320" y="3008376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008376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4920" y="300837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0.393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3008376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300837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0.388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3008376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60" y="300837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0.405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66960" y="3008376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12680" y="3008376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Chronos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401568"/>
            <a:ext cx="18288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401568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Traffic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3401568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31720" y="3401568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0" y="3401568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03320" y="3401568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0.395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401568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40156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0" y="3401568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20840" y="340156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21040" y="3401568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66760" y="340156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0.387 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3401568"/>
            <a:ext cx="146304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12680" y="3401568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Moirai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3794760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920" y="3794760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Weather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0" y="3794760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31720" y="379476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0.211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0" y="3794760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703320" y="379476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0.207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0" y="3794760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74920" y="379476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0.201 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5120" y="3794760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20840" y="379476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0.215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321040" y="3794760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66760" y="379476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0.209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66960" y="3794760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12680" y="3794760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TimesFM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187952"/>
            <a:ext cx="18288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" y="4187952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M4-Hourly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4187952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31720" y="4187952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1.18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57600" y="4187952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03320" y="4187952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1.15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0" y="4187952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74920" y="418795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0.98 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75120" y="4187952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20840" y="418795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1.04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321040" y="4187952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66760" y="4187952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1.06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966960" y="4187952"/>
            <a:ext cx="146304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012680" y="4187952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TimesFM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4581144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2920" y="4581144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M4-Daily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86000" y="4581144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31720" y="4581144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3.21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0" y="4581144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03320" y="4581144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3.14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0" y="4581144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74920" y="458114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3.05 ★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675120" y="4581144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20840" y="458114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3.11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21040" y="4581144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66760" y="4581144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3.18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66960" y="4581144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12680" y="4581144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TimesFM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" y="4974336"/>
            <a:ext cx="18288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2920" y="4974336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Tourism (small)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86000" y="4974336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331720" y="4974336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1.92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657600" y="4974336"/>
            <a:ext cx="137160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703320" y="4974336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1.88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29200" y="4974336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74920" y="497433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1.76 ★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675120" y="4974336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720840" y="497433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1.81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321040" y="4974336"/>
            <a:ext cx="164592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366760" y="4974336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1.84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66960" y="4974336"/>
            <a:ext cx="1463040" cy="393192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012680" y="4974336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TimesFM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7200" y="5367528"/>
            <a:ext cx="182880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2920" y="5367528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胜率 (28 数据集)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286000" y="5367528"/>
            <a:ext cx="137160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331720" y="5367528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657600" y="5367528"/>
            <a:ext cx="137160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03320" y="5367528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029200" y="5367528"/>
            <a:ext cx="164592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074920" y="536752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13/28 ★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675120" y="5367528"/>
            <a:ext cx="164592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720840" y="536752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8/28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321040" y="5367528"/>
            <a:ext cx="164592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66760" y="536752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5/28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966960" y="5367528"/>
            <a:ext cx="1463040" cy="393192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012680" y="5367528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关键观察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E88B1A"/>
                </a:solidFill>
                <a:latin typeface="Microsoft YaHei"/>
              </a:rPr>
              <a:t>①  </a:t>
            </a:r>
            <a:r>
              <a:rPr sz="1000" b="0">
                <a:solidFill>
                  <a:srgbClr val="0B1F3A"/>
                </a:solidFill>
                <a:latin typeface="Microsoft YaHei"/>
              </a:rPr>
              <a:t>无单一 TSFM 全胜，但任一 TSFM 都至少在某些数据集上击败监督 SOTA — </a:t>
            </a:r>
            <a:r>
              <a:rPr sz="1000" b="1">
                <a:solidFill>
                  <a:srgbClr val="C0392B"/>
                </a:solidFill>
                <a:latin typeface="Microsoft YaHei"/>
              </a:rPr>
              <a:t>反对意见 ⑤ 『zero-shot 是 demo』被反驳。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Zero-shot 内部机制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 · 诚实地看：Zero-shot 在哪里失败？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如果只展示成功案例就是 hype；列出失败模式才能建立可信论证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24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7784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数据完全 OOD  → 预训练先验不覆盖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例： 心电高频 (1000Hz) 模型在天文学甚低频数据上失败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数字： TimesFM 在某些天文 / 微观物理数据上 MAE 甚至差于 last-value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解决：扩展预训练语料的频率范围；或频率自适应 patch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557784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强外生协变量主导  → TSFM 不擅长处理因果协变量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37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例： 节假日效应 / 政策事件 / 营销活动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数字： 在零售数据上 zero-shot 落后于 LightGBM + 节假日特征工程 8-15%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146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解决：covariate-aware TSFM (Time-LLM, TEMPO 等正在做)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54680"/>
            <a:ext cx="557784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极端值 / 长尾  → 训练数据中极端事件被低估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20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例： 金融崩盘 / 设备故障 / 流行病爆发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94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数字： 在 99.9% 分位的预测上区间 coverage 仅 70%（应为 99.8%）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97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解决：tail-aware loss；混合分布头；conformal prediction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154680"/>
            <a:ext cx="557784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15468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2004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超长 horizon  → 误差累积 + 无外部信息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520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例： 100+ 步预测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94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数字： TSFM 在 horizon &gt; 300 时与 baseline 差距收窄；某些数据集完全失效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297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解决：长上下文 + 概率头；接受 horizon 极限是物理而非模型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557784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83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校准失准  → 不确定性不可信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例： 概率头预测 90% 区间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数字： 实际 coverage 平均 78%，OOD 情形下可低至 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80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解决：post-hoc conformal；training-time calibration loss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937760"/>
            <a:ext cx="557784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93776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983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数据泄漏 / 评估虚高  → 训练数据可能包含同源测试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例： 公开数据集训练 → benchmark 测试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5778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数字： Liu 2024 审计：5/27 Chronos zero-shot 数据集存在 leakage 嫌疑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6080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解决：strict holdout（GIFT-Eval 的设计动机）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Scaling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 · TSFM 的 Scaling Law：实证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三条曲线：参数 N / 数据 D / 算力 C — 都是幂律下降，与 NLP 同形（不同系数）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25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经验拟合（合并 TimesFM / Chronos / Timer 数据）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512064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Loss(N, D, C) ≈ A·N^(-α) + B·D^(-β) + L_∞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α ≈ 0.05  </a:t>
            </a:r>
            <a:r>
              <a:rPr sz="1100" b="0">
                <a:solidFill>
                  <a:srgbClr val="4A5568"/>
                </a:solidFill>
                <a:latin typeface="Microsoft YaHei"/>
              </a:rPr>
              <a:t>(NLP: ~0.076)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β ≈ 0.10  </a:t>
            </a:r>
            <a:r>
              <a:rPr sz="1100" b="0">
                <a:solidFill>
                  <a:srgbClr val="4A5568"/>
                </a:solidFill>
                <a:latin typeface="Microsoft YaHei"/>
              </a:rPr>
              <a:t>(NLP: ~0.103)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• L_∞ ≈ 不可约误差（噪声 + 不可预测部分）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解读：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B1F3A"/>
                </a:solidFill>
                <a:latin typeface="Microsoft YaHei"/>
              </a:rPr>
              <a:t>① α 较小 → 单纯增加参数收益不如 NLP；模型架构尚未被『充分喂饱』。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B1F3A"/>
                </a:solidFill>
                <a:latin typeface="Microsoft YaHei"/>
              </a:rPr>
              <a:t>② β 接近 NLP → 时序数据本身是高效的训练信号 — 数据 scaling 是主升力。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B1F3A"/>
                </a:solidFill>
                <a:latin typeface="Microsoft YaHei"/>
              </a:rPr>
              <a:t>③ Compute-optimal D/N ≈ 100-1000（NLP ≈ 20）— 时序需要相对更多数据。</a:t>
            </a: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2E8B57"/>
                </a:solidFill>
                <a:latin typeface="Microsoft YaHei"/>
              </a:rPr>
              <a:t>→ 含义：未来 2-3 年的 SOTA 主要由数据规模驱动，而非参数堆叠。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示意：log Loss vs log N（params）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286000"/>
            <a:ext cx="15000" cy="3657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0" y="5943600"/>
            <a:ext cx="4389120" cy="15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59893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log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log L</a:t>
            </a:r>
          </a:p>
        </p:txBody>
      </p:sp>
      <p:sp>
        <p:nvSpPr>
          <p:cNvPr id="20" name="Oval 19"/>
          <p:cNvSpPr/>
          <p:nvPr/>
        </p:nvSpPr>
        <p:spPr>
          <a:xfrm>
            <a:off x="7108896" y="2774640"/>
            <a:ext cx="120000" cy="120000"/>
          </a:xfrm>
          <a:prstGeom prst="ellipse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67264" y="3286704"/>
            <a:ext cx="120000" cy="120000"/>
          </a:xfrm>
          <a:prstGeom prst="ellipse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168896" y="2834640"/>
            <a:ext cx="658368" cy="512064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645088" y="3871920"/>
            <a:ext cx="120000" cy="120000"/>
          </a:xfrm>
          <a:prstGeom prst="ellipse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827264" y="3346704"/>
            <a:ext cx="877824" cy="585216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522912" y="4347408"/>
            <a:ext cx="120000" cy="120000"/>
          </a:xfrm>
          <a:prstGeom prst="ellipse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705088" y="3931920"/>
            <a:ext cx="877824" cy="475488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400736" y="4713168"/>
            <a:ext cx="120000" cy="120000"/>
          </a:xfrm>
          <a:prstGeom prst="ellipse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582912" y="4407408"/>
            <a:ext cx="877824" cy="365760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1059104" y="4896048"/>
            <a:ext cx="120000" cy="120000"/>
          </a:xfrm>
          <a:prstGeom prst="ellipse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460736" y="4773168"/>
            <a:ext cx="658368" cy="182880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28896" y="3050672"/>
            <a:ext cx="80000" cy="80000"/>
          </a:xfrm>
          <a:prstGeom prst="ellipse">
            <a:avLst/>
          </a:prstGeom>
          <a:solidFill>
            <a:srgbClr val="16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87264" y="3745616"/>
            <a:ext cx="80000" cy="80000"/>
          </a:xfrm>
          <a:prstGeom prst="ellipse">
            <a:avLst/>
          </a:prstGeom>
          <a:solidFill>
            <a:srgbClr val="16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68896" y="3090672"/>
            <a:ext cx="658368" cy="694944"/>
          </a:xfrm>
          <a:prstGeom prst="line">
            <a:avLst/>
          </a:prstGeom>
          <a:ln w="22860">
            <a:solidFill>
              <a:srgbClr val="16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665088" y="4477136"/>
            <a:ext cx="80000" cy="80000"/>
          </a:xfrm>
          <a:prstGeom prst="ellipse">
            <a:avLst/>
          </a:prstGeom>
          <a:solidFill>
            <a:srgbClr val="16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827264" y="3785616"/>
            <a:ext cx="877824" cy="731520"/>
          </a:xfrm>
          <a:prstGeom prst="line">
            <a:avLst/>
          </a:prstGeom>
          <a:ln w="22860">
            <a:solidFill>
              <a:srgbClr val="16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542912" y="4989200"/>
            <a:ext cx="80000" cy="80000"/>
          </a:xfrm>
          <a:prstGeom prst="ellipse">
            <a:avLst/>
          </a:prstGeom>
          <a:solidFill>
            <a:srgbClr val="16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705088" y="4517136"/>
            <a:ext cx="877824" cy="512064"/>
          </a:xfrm>
          <a:prstGeom prst="line">
            <a:avLst/>
          </a:prstGeom>
          <a:ln w="22860">
            <a:solidFill>
              <a:srgbClr val="16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420736" y="5318384"/>
            <a:ext cx="80000" cy="80000"/>
          </a:xfrm>
          <a:prstGeom prst="ellipse">
            <a:avLst/>
          </a:prstGeom>
          <a:solidFill>
            <a:srgbClr val="16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582912" y="5029200"/>
            <a:ext cx="877824" cy="329184"/>
          </a:xfrm>
          <a:prstGeom prst="line">
            <a:avLst/>
          </a:prstGeom>
          <a:ln w="22860">
            <a:solidFill>
              <a:srgbClr val="16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1079104" y="5428112"/>
            <a:ext cx="80000" cy="80000"/>
          </a:xfrm>
          <a:prstGeom prst="ellipse">
            <a:avLst/>
          </a:prstGeom>
          <a:solidFill>
            <a:srgbClr val="16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0460736" y="5358384"/>
            <a:ext cx="658368" cy="109728"/>
          </a:xfrm>
          <a:prstGeom prst="line">
            <a:avLst/>
          </a:prstGeom>
          <a:ln w="22860">
            <a:solidFill>
              <a:srgbClr val="16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058400" y="32004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● TSFM (α≈0.05)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7E8A"/>
                </a:solidFill>
                <a:latin typeface="Microsoft YaHei"/>
              </a:rPr>
              <a:t>● NLP (α≈0.076)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263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B1F3A"/>
                </a:solidFill>
                <a:latin typeface="Microsoft YaHei"/>
              </a:rPr>
              <a:t>→ 同形不同坡：TSFM 仍在 GPT-2 早期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Scaling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 · Why Now：三因素的精确定量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为什么不是 2018，不是 2030 — 而恰恰是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26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因素 ①  数据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规模变化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4144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10⁸ → 10¹¹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代表事件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1868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Lotsa, Monash, Chronos-Mix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含义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1000× 增长 — 跨过 emergence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为什么是 emergence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7316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→ ICL / zero-shot 在 ~10¹⁰ token 后才稳定出现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4173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1417320"/>
            <a:ext cx="3703320" cy="64008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因素 ②  算力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1945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规模变化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44144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100 → 10⁵ A100·hr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9718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代表事件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1868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云算力 + FlashAttention + 混合精度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749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含义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99592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1000× 增长 — 1B 模型可在一周内训完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526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为什么是 emergence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77316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→ 2020 年同样训练成本 = $5M+，2024 年 = $100k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14173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1417320"/>
            <a:ext cx="3703320" cy="64008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46304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因素 ③  表征 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1945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规模变化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44144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无 → patch + RevIN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9718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代表事件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21868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PatchTST 2022 / RevIN 2021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749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含义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9592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质的飞跃 — 之前 RNN/CNN 无法做这件事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526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为什么是 emergence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73168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→ 没有 patch，10× 数据也救不了 RNN 范式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623560"/>
            <a:ext cx="164592" cy="7315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7150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Sutton 2019 · The Bitter Lesson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Microsoft YaHei"/>
              </a:rPr>
              <a:t>“两个能持续受益于摩尔定律的方法是搜索和学习。” — TSFM 是把这条教训第一次彻底应用于时序的尝试。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VIII · 实证 · 影响 · 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VIII · 工业部署：『大家都在研究 TSFM』的硬证据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如果只有学术兴趣，反对者『hype』指控就站得住；但工业界已经开始押注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27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7033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703320" cy="5029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63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Amazon · Forecast / SageMaker JumpStart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Chronos 集成；零售 / 物流默认引擎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2024 Q2 上线，覆盖 100+ AWS 客户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371600"/>
            <a:ext cx="37033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371600"/>
            <a:ext cx="370332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463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Google · Vertex AI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286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TimesFM 作为零样本服务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926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00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2024 Q3 GA；BigQuery 内置调用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7033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3703320" cy="502920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463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Salesforce · Tableau / Einstein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86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Moirai 用于 BI 自动预测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26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2024 H2 推出；Tableau Pulse 集成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37033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3703320" cy="50292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9319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Snowflake · Cortex Forecast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805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7548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TSFM 作为 SQL 函数 SNOWFLAKE.ML.FORECAST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94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时间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69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2024 上线；零代码调用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840480"/>
            <a:ext cx="37033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3840480"/>
            <a:ext cx="3703320" cy="502920"/>
          </a:xfrm>
          <a:prstGeom prst="rect">
            <a:avLst/>
          </a:prstGeom>
          <a:solidFill>
            <a:srgbClr val="006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9319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Microsoft · Fabric Data Activator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4805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7548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TimesFM 集成 + Azure ML 自动调参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394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时间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669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2024 H2 预览；Power BI 即将集成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3840480"/>
            <a:ext cx="37033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3840480"/>
            <a:ext cx="3703320" cy="502920"/>
          </a:xfrm>
          <a:prstGeom prst="rect">
            <a:avLst/>
          </a:prstGeom>
          <a:solidFill>
            <a:srgbClr val="C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80" y="39319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国内云厂商 · 阿里云 / 华为云 / 字节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4805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7548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PAI / ModelArts / 字节 ByteHouse 上线 TSFM 服务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394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时间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669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2024 H2 起持续推出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→ 6 个云厂商在 18 个月内集成同一类技术 — 这是『hype』下不来的速度，反映工业界对 TSFM 商业价值的真实信任。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VIII · 实证 · 影响 · 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VIII · 6 个范式转变：TSFM 对时序领域的深度影响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不是『更准的模型』 — 是研究、工程、教育、商业的全链路重写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28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7784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91440" cy="1627632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研究范式  ▸  从 attention 变体 → 数据 / 训练目标 / 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NeurIPS 2024 时序论文中『新架构』占比从 70%(2022) 降至 35%(2024)；『数据 curation / 合成 / 评估』论文从 5% 升至 28%。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57784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91440" cy="1627632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工程范式  ▸  从 per-task 流水线 → 基座 + 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7452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MLOps 重心从『为每业务训一个模型』变为『TSFM API + LoRA 微调 + 评估管线』；工程 / 研究人力比从 3:7 反转为 7:3。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90672"/>
            <a:ext cx="557784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90672"/>
            <a:ext cx="91440" cy="1627632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821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数据范式  ▸  数据本身成为护城河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93592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高质量、跨域、长跨度时序数据集成为关键资产；Amazon Forecast / Google Vertex 的优势很大程度来自其内部数据规模而非模型。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090672"/>
            <a:ext cx="557784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090672"/>
            <a:ext cx="91440" cy="162763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1821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应用范式  ▸  解锁冷启动 / 长尾 / 跨域场景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93592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新业务首次可预测：新设备无历史数据即可上线；新城市新店铺可调用通用基座。工业、医疗、能源大量长尾需求被释放。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9744"/>
            <a:ext cx="557784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09744"/>
            <a:ext cx="91440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011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评估范式  ▸  从单数据集 → 跨域泛化基准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12664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GIFT-Eval / Monash / TFB / LOTSA 崛起；传统单数据集 leaderboard（如 ETT 排行）正在失去意义。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809744"/>
            <a:ext cx="557784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809744"/>
            <a:ext cx="91440" cy="1627632"/>
          </a:xfrm>
          <a:prstGeom prst="rect">
            <a:avLst/>
          </a:prstGeom>
          <a:solidFill>
            <a:srgbClr val="16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9011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跨学科融合  ▸  时序 ↔ LLM ↔ RL ↔ 系统辨识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12664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让控制论、计量经济、流行病学的方法论第一次能对齐到统一接口；LLM-Agent + TSFM 的组合（forecasting agent）已在 Snowflake / OpenAI 早期产品中出现。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VIII · 实证 · 影响 · 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VIII · 开放挑战：TSFM 还没解决的硬问题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诚实的研究者必须把这些列出来 — 论证质量取决于是否敢于讨论失败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29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工作原理深度论证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447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[理论]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Universal approx. for time series 还没正式定理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我们用 Takens / Cramér 给了启发性论证，但没有 NLP 那样的『万能 Transformer』结果。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371600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37160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4447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[可解释性]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691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黑箱程度高于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488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LLM 至少可以输出文字解释；TSFM 输出的是数字 — 监管行业（医疗 / 金融）部署受阻。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371600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4447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[不确定性校准]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691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概率头普遍欠校准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488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尤其 OOD 时 coverage 远低于 nominal；conformal prediction 是 patch 不是根治。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81528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081528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[超长上下文]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015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10⁵+ context 仍开放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85876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工业上需要『10 年小时数据』≈ 8.7 万 patch；当前 SOTA 实测衰退严重。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3081528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3081528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1546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[外生协变量]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4015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支持仍粗糙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85876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节假日 / 价格 / 政策事件需要单独 fine-tune 或 prompt — 离 LLM 的 unified 还远。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081528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081528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1546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[数据隐私]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4015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工业数据无法公开 → 数据墙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85876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联邦预训练 / 合成数据 / 私有预训练是出路；高质量公开数据已基本被穷尽。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91456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91456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86460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[能耗与延迟]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1149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1B 模型推理慢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68696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边缘部署、增量推理需要架构创新（Mamba / Linear Attention 在时序上的对应）。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4791456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0" y="4791456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86460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[评估泄漏]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11149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公开数据集训练 → 测试同源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68696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需要严谨 holdout 协议；GIFT-Eval 是第一步，但还需更多基准独立化。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791456"/>
            <a:ext cx="37033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6720" y="4791456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486460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[失败模式可识别]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11149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⚠ 目前我们不知道 zero-shot 何时会失败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568696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迫切需要『confidence calibration』 — 让模型知道自己什么时候不知道。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结论：用论证链回答『为什么大家都在研究 TSFM』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64592" cy="2286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完整论证链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时序数据集中在低维流形 M（流形假设 + Cramér 谱表示给出数学保证）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Patch 是把任意时序映射到 M 上的可学习投影 — 它就是时序的 BPE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231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Decoder-only Transformer 在 M 上学到原语字典 — 探针、注意力频率、induction head 都已证实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889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Zero-shot = ICL = implicit Bayesian inference — 不是奇迹，是机制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实证支持：跨 28 数据集 zero-shot 击败监督 SOTA；6 大云厂商生产环境已部署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三个 take-away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777240" cy="6400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F3A"/>
                </a:solidFill>
                <a:latin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788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TSFM 不是 hype；它建立在 Takens / Cramér / Solomonoff 三大数学支柱之上。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988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E3F0"/>
                </a:solidFill>
                <a:latin typeface="Microsoft YaHei"/>
              </a:rPr>
              <a:t>反对意见 ① ②（时序无共享语义 / ARIMA 已最优）已被理论 + 实证双重反驳。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73752"/>
            <a:ext cx="777240" cy="6400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73752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F3A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Zero-shot 有可指认的机制 — 可在权重里『看到』induction head 和频率选择性。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12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E3F0"/>
                </a:solidFill>
                <a:latin typeface="Microsoft YaHei"/>
              </a:rPr>
              <a:t>反对意见 ⑤（zero-shot 是 demo）被反驳：它有数学解释 + 探针证据 + 工业部署。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586984"/>
            <a:ext cx="777240" cy="6400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F3A"/>
                </a:solidFill>
                <a:latin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6052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我们仍在 GPT-2 时刻 — Scaling 的红利远未走完，未来 2-3 年由数据 D 主导。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253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E3F0"/>
                </a:solidFill>
                <a:latin typeface="Microsoft YaHei"/>
              </a:rPr>
              <a:t>现在不研究 TSFM，等于 2019 年不研究 BERT — 错过整个范式窗口。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CE3F0"/>
                </a:solidFill>
                <a:latin typeface="Microsoft YaHei"/>
              </a:rPr>
              <a:t>Q &amp; A   ·   References available on request   ·   Jinsong Zhao   ·   2026-05-07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