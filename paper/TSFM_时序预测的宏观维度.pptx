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时序预测的宏观维度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E88B1A"/>
                </a:solidFill>
                <a:latin typeface="Microsoft YaHei"/>
              </a:rPr>
              <a:t>The Macro Dimensions of Time Series Forecasting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640080" cy="3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800" b="1">
                <a:solidFill>
                  <a:srgbClr val="E88B1A"/>
                </a:solidFill>
                <a:latin typeface="Microsoft YaHei"/>
              </a:rPr>
              <a:t>用户的两轴模型: </a:t>
            </a:r>
            <a:r>
              <a:rPr sz="1800" b="1">
                <a:solidFill>
                  <a:srgbClr val="FFFFFF"/>
                </a:solidFill>
                <a:latin typeface="Microsoft YaHei"/>
              </a:rPr>
              <a:t>信息完备性 × 模型表征能力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600" b="0">
                <a:solidFill>
                  <a:srgbClr val="DCE3F0"/>
                </a:solidFill>
                <a:latin typeface="Microsoft YaHei"/>
              </a:rPr>
              <a:t>这两个维度都是对的, 但远远不够 — 还需要至少 4 个被忽略的宏观维度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DCE3F0"/>
                </a:solidFill>
                <a:latin typeface="Microsoft YaHei"/>
              </a:rPr>
              <a:t>TSFM 不是单一维度的胜利, 而是在 </a:t>
            </a:r>
            <a:r>
              <a:rPr sz="1600" b="1">
                <a:solidFill>
                  <a:srgbClr val="E88B1A"/>
                </a:solidFill>
                <a:latin typeface="Microsoft YaHei"/>
              </a:rPr>
              <a:t>4 个维度</a:t>
            </a:r>
            <a:r>
              <a:rPr sz="1600" b="0">
                <a:solidFill>
                  <a:srgbClr val="DCE3F0"/>
                </a:solidFill>
                <a:latin typeface="Microsoft YaHei"/>
              </a:rPr>
              <a:t> 上的协同性创新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DCE3F0"/>
                </a:solidFill>
                <a:latin typeface="Microsoft YaHei"/>
              </a:rPr>
              <a:t>但在另外 </a:t>
            </a:r>
            <a:r>
              <a:rPr sz="1600" b="1">
                <a:solidFill>
                  <a:srgbClr val="C0392B"/>
                </a:solidFill>
                <a:latin typeface="Microsoft YaHei"/>
              </a:rPr>
              <a:t>2 个维度</a:t>
            </a:r>
            <a:r>
              <a:rPr sz="1600" b="0">
                <a:solidFill>
                  <a:srgbClr val="DCE3F0"/>
                </a:solidFill>
                <a:latin typeface="Microsoft YaHei"/>
              </a:rPr>
              <a:t> 上, TSFM 完全没有帮助 — 这就是它的合理使用边界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943600"/>
            <a:ext cx="10515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8B1A"/>
                </a:solidFill>
                <a:latin typeface="Microsoft YaHei"/>
              </a:rPr>
              <a:t>Jinsong Zhao    ·    清华大学    ·    2026-05-07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用户的认知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用户的两轴框架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我们先把用户的认知精确写下来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64592" cy="14630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用户原话: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2880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0B1F3A"/>
                </a:solidFill>
                <a:latin typeface="Microsoft YaHei"/>
              </a:rPr>
              <a:t>「好的、准确的时序预测需要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足够完备的信息</a:t>
            </a:r>
            <a:r>
              <a:rPr sz="1400" b="0">
                <a:solidFill>
                  <a:srgbClr val="0B1F3A"/>
                </a:solidFill>
                <a:latin typeface="Microsoft YaHei"/>
              </a:rPr>
              <a:t> — 即足够多、足够完备的上下文; 另一方面, 还需要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模型的表征能力</a:t>
            </a:r>
            <a:r>
              <a:rPr sz="1400" b="0">
                <a:solidFill>
                  <a:srgbClr val="0B1F3A"/>
                </a:solidFill>
                <a:latin typeface="Microsoft YaHei"/>
              </a:rPr>
              <a:t> 足够强。」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5394960" cy="30175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539496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Microsoft YaHei"/>
              </a:rPr>
              <a:t>AXIS 1 · 信息完备性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可观测性 (observability)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系统状态能否从观测中『还原』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充分统计量 (sufficient statistic)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上下文 X 是否包含了 Y 的所有信息: H(Y|X) = H(Y|状态)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协变量 / 外生变量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受迫系统中, 驱动信号必须可观测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5394960" cy="30175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39496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2004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Microsoft YaHei"/>
              </a:rPr>
              <a:t>AXIS 2 · 模型表征能力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函数空间的覆盖能力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∃ θ ∈ Θ, 使得 f_θ ≈ f* (universal approximation)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分辨率 / 容量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参数量 N、深度、注意力头数 — 决定能拟合多复杂的关系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非线性 / 多尺度建模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能否表达从秒到月的耦合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这两个维度都是必要的; 但单凭这两个, 你解释不了为什么 TSFM 比传统方法更好。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用户的认知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你说的两轴 · 形式化论证为什么是对的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信息完备性 ↔ 不可约误差; 表征能力 ↔ 近似误差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预测误差的经典分解 (bias-variance + irreducible)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E[(Y − Ŷ)²]  =  </a:t>
            </a:r>
            <a:r>
              <a:rPr sz="1600" b="1">
                <a:solidFill>
                  <a:srgbClr val="C0392B"/>
                </a:solidFill>
                <a:latin typeface="Microsoft YaHei"/>
              </a:rPr>
              <a:t>σ²(Y|X)</a:t>
            </a:r>
            <a:r>
              <a:rPr sz="1600" b="0">
                <a:solidFill>
                  <a:srgbClr val="0B1F3A"/>
                </a:solidFill>
                <a:latin typeface="Microsoft YaHei"/>
              </a:rPr>
              <a:t>              +              </a:t>
            </a:r>
            <a:r>
              <a:rPr sz="1600" b="1">
                <a:solidFill>
                  <a:srgbClr val="E88B1A"/>
                </a:solidFill>
                <a:latin typeface="Microsoft YaHei"/>
              </a:rPr>
              <a:t>‖f* − f̂‖²</a:t>
            </a:r>
            <a:r>
              <a:rPr sz="1600" b="0">
                <a:solidFill>
                  <a:srgbClr val="0B1F3A"/>
                </a:solidFill>
                <a:latin typeface="Microsoft YaHei"/>
              </a:rPr>
              <a:t>              +              </a:t>
            </a:r>
            <a:r>
              <a:rPr sz="1600" b="1">
                <a:solidFill>
                  <a:srgbClr val="6B3FA0"/>
                </a:solidFill>
                <a:latin typeface="Microsoft YaHei"/>
              </a:rPr>
              <a:t>Var[f̂]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          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不可约 (信息不完备)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      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近似误差 (表征不够)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       </a:t>
            </a:r>
            <a:r>
              <a:rPr sz="1200" b="1">
                <a:solidFill>
                  <a:srgbClr val="6B3FA0"/>
                </a:solidFill>
                <a:latin typeface="Microsoft YaHei"/>
              </a:rPr>
              <a:t>方差 (数据 / 优化)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4864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信息完备性  ↔  σ²(Y|X)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521208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如果上下文 X 不包含决定 Y 的所有信息,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  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σ²(Y|X) &gt; 0 — 这是『硬下界』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再强的模型也无法跨越这个下界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反应器例子: 只观测 T(t), 不观测组分 c(t),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σ²(T(t+h) | T_past) ≥ σ²(T | T_past, c_past)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这是用户两轴中第一轴的精确含义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0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5486400" cy="4572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</a:rPr>
              <a:t>表征能力  ↔  ‖f* − f̂‖²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21208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模型族 F = {f_θ : θ ∈ Θ} 必须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能逼近真函数 f*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否则即使 X 完备, 你也 fit 不出来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经典案例: 线性回归 vs 强非线性动力学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   线性 model 永远抓不住 chaotic 系统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Universal Approximation: 足够宽 / 深的 NN 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Microsoft YaHei"/>
              </a:rPr>
              <a:t>   ⇒ 任意连续函数, 任意精度 (Cybenko 1989)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这是用户两轴中第二轴的精确含义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但这个两轴框架并不完整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信息完备 + 容量足够 ⟹ 好的预测? 这是一个常见的误解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8B1A"/>
                </a:solidFill>
                <a:latin typeface="Microsoft YaHei"/>
              </a:rPr>
              <a:t>反例 (反直觉): 信息完备 + 容量足够 ≠ 一定能学到好的预测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假设你给一个 10 亿参数的 MLP 喂入完整的 Lorenz 系统观测 (信息完备 ✓ , 容量充足 ✓), 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它能否学会预测? 在合理算力 / 数据下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多半不能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 — 因为缺少『序列结构 / 局部性 / 多尺度』这些归纳偏置。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4864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164592" cy="1691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Axis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9718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归纳偏置 / 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No Free Lunch — 没有合适的先验, 即使有无限数据 + 无限容量, 学习效率也会塌陷。
例: CNN 对图像、Transformer 对语言、Patching+RevIN 对时序。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80360"/>
            <a:ext cx="54864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80360"/>
            <a:ext cx="164592" cy="1691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71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Axis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718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训练数据规模 + 多样性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和『per-instance 上下文』完全不同: 这是训练分布的覆盖度。
泛化界: ε ≤ ε_train + O(√(C/N)) — N 是训练数据量, 不是单条样本上下文。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54864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64592" cy="1691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Axis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8006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泛化机制 / 迁移机制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怎么从 train 迁到 test? IID vs OOD vs zero-shot — 不同迁移机制有不同样本复杂度。
ICL (in-context learning) 是新近发现的高效泛化机制。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709160"/>
            <a:ext cx="54864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164592" cy="1691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8006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Axis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6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可识别性 (Identifiability)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1208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比『信息完备』更上游: 即使观测变量看似齐全, 系统的某些参数 / 状态可能在观测下不可分。
例: 两个不同的隐状态产生相同的观测序列 — 任何模型都无能为力。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缺失轴 3 · 归纳偏置 (Inductive Bias)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No Free Lunch 定理: 没有合适的先验, 学习就是在沙子上写字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64592" cy="13716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No Free Lunch 定理 (Wolpert 1996)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对所有可能的目标函数取平均, 任何两个学习算法的期望性能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完全相同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学习算法的『好』完全来自于它的归纳偏置和真实问题分布的匹配。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没有先验 = 没有泛化。容量再大、数据再多, 也只是在记忆。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37033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3703320" cy="5943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703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视觉 /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卷积 = 平移不变性 + 局部性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ImageNet 之所以可学, 不是因为数据多,
而是因为 CNN 的先验匹配了图像的统计结构。
用 MLP 在 ImageNet 上同样数据量下
准确率掉 30+ 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971800"/>
            <a:ext cx="37033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971800"/>
            <a:ext cx="3703320" cy="59436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971800"/>
            <a:ext cx="3703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语言 / 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self-attention = 任意距离的关联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5196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语言的远程依赖 + 排列性 ↔ Transformer 的归纳偏置。
RNN (顺序先验) 在长上下文上落败,
不是因为容量, 而是先验不对。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971800"/>
            <a:ext cx="370332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71800"/>
            <a:ext cx="3703320" cy="5943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971800"/>
            <a:ext cx="3703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时序 / TSFM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033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Patching + Channel-Indep + RevIN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5196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Patching = 多尺度 + BPE 类压缩
Channel-Indep = 每条序列独立 (放大有效数据)
RevIN = 仪器尺度无关
这些先验是 TSFM 设计者刻意挑出来的。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信息完备 + 容量充足 是 必要条件; 但归纳偏置才决定 你能否高效逼近真函数。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缺失轴 4 · 训练数据规模 + 多样性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用户混淆了两个 X: per-instance 上下文 vs 训练分布的覆盖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X_context  (用户的轴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单个样本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可见的过去窗口 + 协变量。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例: 给我看过去 96 个温度点 + 当前组分。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决定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不可约误差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的下界 σ²(Y|X)。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你需要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在推理时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拥有这些信息。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</a:rPr>
              <a:t>D_train  (被忽略的轴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整个训练分布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— 跨多少域 / 频率 / 模式。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例: TSFM 在 LOTSA 27B 时序点上预训练, 跨 9 大域。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决定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泛化误差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的范围: |R(f̂) − R̂(f̂)| ≤ O(√(C/N)).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你需要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在训练时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见过足够多样的世界。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训练数据规模的实证: TSFM 把这一轴向上推了 5-7 个数量级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614416"/>
            <a:ext cx="1645920" cy="19202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4865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  <a:latin typeface="Microsoft YaHei"/>
              </a:rPr>
              <a:t>7×10⁴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576012"/>
            <a:ext cx="1645920" cy="23042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52102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  <a:latin typeface="Microsoft YaHei"/>
              </a:rPr>
              <a:t>1×10⁵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852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M4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5102352"/>
            <a:ext cx="1645920" cy="704088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7365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67E8A"/>
                </a:solidFill>
                <a:latin typeface="Microsoft YaHei"/>
              </a:rPr>
              <a:t>5×10⁹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852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Monash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4718304"/>
            <a:ext cx="1645920" cy="1088136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35254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8B1A"/>
                </a:solidFill>
                <a:latin typeface="Microsoft YaHei"/>
              </a:rPr>
              <a:t>2.7×10¹⁰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852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LOTSA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4526280"/>
            <a:ext cx="164592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160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Microsoft YaHei"/>
              </a:rPr>
              <a:t>2.3×10¹¹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852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A47"/>
                </a:solidFill>
                <a:latin typeface="Microsoft YaHei"/>
              </a:rPr>
              <a:t>GIFT-Pretrain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TSFM 之前: ~10⁵ 数据点 (per-dataset);  TSFM 之后: ~10¹⁰ 数据点 (cross-domain). 这是质变。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缺失轴 5 · 泛化机制 (Transfer Mechanism)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训练好的模型怎么从 train 用到 test? 不同机制的样本复杂度差几个量级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7889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788920" cy="54864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Mechanism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IID 监督学习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Microsoft YaHei"/>
              </a:rPr>
              <a:t>train / test 同分布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需要 N 大;
经典 PAC 界 O(VC/ε²);
换数据集 = 重新训练。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26280"/>
            <a:ext cx="25146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传统 LSTM / TFT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17320"/>
            <a:ext cx="27889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17320"/>
            <a:ext cx="2788920" cy="54864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1417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Mechanism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0574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迁移学习 (transfer)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5146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Microsoft YaHei"/>
              </a:rPr>
              <a:t>预训练 + 下游微调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9718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ImageNet → 下游任务范式;
下游需要数百-数千标签;
仍需训练阶段。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526280"/>
            <a:ext cx="25146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5262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BERT-style fine-tune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17320"/>
            <a:ext cx="27889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2788920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417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Mechanism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0574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元学习 (meta-learning)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146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Microsoft YaHei"/>
              </a:rPr>
              <a:t>学习『如何快速学习』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9718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MAML / Reptile;
下游需要少量梯度步;
仍需训练阶段。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526280"/>
            <a:ext cx="25146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5262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MAML, Reptile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1417320"/>
            <a:ext cx="27889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417320"/>
            <a:ext cx="2788920" cy="548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417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Mechanism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0574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</a:rPr>
              <a:t>in-context learning (ICL)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5146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Microsoft YaHei"/>
              </a:rPr>
              <a:t>推理时直接用上下文学习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971800"/>
            <a:ext cx="2514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GPT-3 涌现;
下游零梯度步;
是机制层面的质变。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4526280"/>
            <a:ext cx="251460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5262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TSFM zero-shot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349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机制 A → D 是『样本效率』的指数提升: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DCE3F0"/>
                </a:solidFill>
                <a:latin typeface="Microsoft YaHei"/>
              </a:rPr>
              <a:t>    A: 10⁴-10⁵ 标签;  B: 10²-10³ 标签;  C: 10¹-10² 标签;  D: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0 标签 (zero-shot) 或 0 训练步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用户的两轴框架默认是机制 A。但 ICL 是一个全新的轴 — 你不能用 A 的直觉评估 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缺失轴 6 · 可识别性 (Identifiability)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比信息完备性更上游 — 你的观测语义本身能否区分不同的因果机制?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形式定义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如果存在两组不同的参数 / 隐状态 (θ₁, h₁) ≠ (θ₂, h₂), 但它们诱导出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完全相同的观测分布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P(Y | θ₁, h₁) = P(Y | θ₂, h₂),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那么从观测中 不可能 区分这两种情况, 不论模型多强、数据多多。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这是 σ²(Y|X) 之外的另一种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结构性下界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: 不是『噪声』, 而是『歧义』。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即使你给 TSFM 海量数据 + 完美架构, 在不可识别区域它依然 50/50。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4864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64592" cy="2606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案例 1 · 隐马尔可夫的标签置换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HMM 的两个隐状态 {A, B} 互换名称 ⇒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观测概率不变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不论数据多少, 你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无法区分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哪个是 A 哪个是 B (label-switching).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这不是信息缺失, 是参数本身的对称性。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• TSFM 也无能为力 — 这是观测语义的限制。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4864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164592" cy="2606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案例 2 · 反应器场景 (前 PPT)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5196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反应器只测 T(t), 不测组分 c(t).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多种 (c(t), T) 组合可能产生相同的 T 历史 ⇒ 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 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c(t) 在 T 的观测下不可识别。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即使 TSFM 再强大, 它无法回答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『下一秒组分会突变到多少』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— 因为这个信息在观测序列中 物理上 不存在。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100" b="1">
                <a:solidFill>
                  <a:srgbClr val="0B1F3A"/>
                </a:solidFill>
                <a:latin typeface="Microsoft YaHei"/>
              </a:rPr>
              <a:t>解决方法: 加传感器, 不是加模型。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缺失的维度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次要维度 · 优化可行性 + 校准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工程上同样关键, 但相对来说是『可解决』的 — 不是宏观瓶颈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Axis 7 · 优化 / 可训练性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21208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即使最优 θ* 存在, SGD 能否找到?</a:t>
            </a:r>
          </a:p>
          <a:p>
            <a:pPr>
              <a:lnSpc>
                <a:spcPct val="130000"/>
              </a:lnSpc>
            </a:pPr>
            <a:r>
              <a:rPr sz="5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非凸损失景观, 局部极小, 鞍点。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LayerNorm / RMSNorm / RevIN 不仅是先验, 也是优化稳定剂。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学习率调度 / warmup / weight decay。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为什么这是『次要』维度?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过去十年沉淀: Adam, AdamW, Lion, μP, ZeRO, FlashAttention.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对 TSFM 来说: 已经有成熟的工程栈, 不再是创新瓶颈。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但你不能假装这一轴不存在 — 它决定『纸上能跑』和『实际能学』的差距。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48640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Axis 8 · 不确定性 / 校准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21208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点预测 ŷ 不够 — 工业场景需要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置信区间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5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Quantile loss → P10 / P50 / P90.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Conformal prediction → 提供『有限样本可证』的覆盖率保证。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Bayesian posterior approximation.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和用户两轴的关系?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用户的『信息完备』决定 σ²(Y|X) 大小, 但不决定你能否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正确地报告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这个不确定性。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校准 ↔ 模型对自己的『不确定性』有自知之明。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现代 TSFM 默认输出概率分布 (Chronos token sampling, Moirai mixture).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完整框架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完整的宏观维度 · 一张图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时序预测 = 6 轴 + 2 个次要轴的协同博弈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3383280"/>
            <a:ext cx="1645920" cy="12801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338328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  <a:latin typeface="Microsoft YaHei"/>
              </a:rPr>
              <a:t>好的
预测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41732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2377440" cy="292608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4173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783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信息完备性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30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88B1A"/>
                </a:solidFill>
                <a:latin typeface="Microsoft YaHei"/>
              </a:rPr>
              <a:t>[用户]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80760" y="2702052"/>
            <a:ext cx="0" cy="690372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13341" y="246888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3341" y="2468880"/>
            <a:ext cx="2377440" cy="292608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3341" y="24688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3341" y="2834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表征能力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3341" y="31821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88B1A"/>
                </a:solidFill>
                <a:latin typeface="Microsoft YaHei"/>
              </a:rPr>
              <a:t>[用户]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627150" y="3362706"/>
            <a:ext cx="419692" cy="345186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713341" y="457200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13341" y="4572000"/>
            <a:ext cx="237744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3341" y="45720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3341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归纳偏置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3341" y="5285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  <a:latin typeface="Microsoft YaHei"/>
              </a:rPr>
              <a:t>[TSFM 发力]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7150" y="4338828"/>
            <a:ext cx="419692" cy="345186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892040" y="562356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5623560"/>
            <a:ext cx="237744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562356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989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训练数据规模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63367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  <a:latin typeface="Microsoft YaHei"/>
              </a:rPr>
              <a:t>[TSFM 发力]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0760" y="4654296"/>
            <a:ext cx="0" cy="690372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070739" y="457200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70739" y="4572000"/>
            <a:ext cx="237744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0739" y="45720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0739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泛化机制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0739" y="5285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  <a:latin typeface="Microsoft YaHei"/>
              </a:rPr>
              <a:t>[TSFM 发力]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114678" y="4338828"/>
            <a:ext cx="419692" cy="345186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070739" y="246888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70739" y="2468880"/>
            <a:ext cx="237744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70739" y="24688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Axis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70739" y="2834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  <a:latin typeface="Microsoft YaHei"/>
              </a:rPr>
              <a:t>可识别性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70739" y="31821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Microsoft YaHei"/>
              </a:rPr>
              <a:t>[TSFM 不解决]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5114678" y="3362706"/>
            <a:ext cx="419692" cy="345186"/>
          </a:xfrm>
          <a:prstGeom prst="line">
            <a:avLst/>
          </a:prstGeom>
          <a:ln w="1524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57200" y="1417320"/>
            <a:ext cx="237744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15087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颜色含义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1874519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■ </a:t>
            </a:r>
            <a:r>
              <a:rPr sz="1100" b="1">
                <a:solidFill>
                  <a:srgbClr val="333A47"/>
                </a:solidFill>
                <a:latin typeface="Microsoft YaHei"/>
              </a:rPr>
              <a:t>用户提的轴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</a:rPr>
              <a:t>  必要, 但非充分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8B57"/>
                </a:solidFill>
                <a:latin typeface="Microsoft YaHei"/>
              </a:rPr>
              <a:t>■ </a:t>
            </a:r>
            <a:r>
              <a:rPr sz="1100" b="1">
                <a:solidFill>
                  <a:srgbClr val="333A47"/>
                </a:solidFill>
                <a:latin typeface="Microsoft YaHei"/>
              </a:rPr>
              <a:t>TSFM 发力点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</a:rPr>
              <a:t>  这就是 TSFM 的真正创新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■ </a:t>
            </a:r>
            <a:r>
              <a:rPr sz="1100" b="1">
                <a:solidFill>
                  <a:srgbClr val="333A47"/>
                </a:solidFill>
                <a:latin typeface="Microsoft YaHei"/>
              </a:rPr>
              <a:t>TSFM 无能为力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Microsoft YaHei"/>
              </a:rPr>
              <a:t>  上游 / 观测端的问题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1417320"/>
            <a:ext cx="2606040" cy="49834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1554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宏观恒等式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1965960"/>
            <a:ext cx="23774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E88B1A"/>
                </a:solidFill>
                <a:latin typeface="Microsoft YaHei"/>
              </a:rPr>
              <a:t>好的预测  =  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  f(轴1, ..., 轴6)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不是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max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 而是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min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DCE3F0"/>
                </a:solidFill>
                <a:latin typeface="Microsoft YaHei"/>
              </a:rPr>
              <a:t>即: 最弱的那一轴 决定整体表现 (木桶效应).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DCE3F0"/>
                </a:solidFill>
                <a:latin typeface="Microsoft YaHei"/>
              </a:rPr>
              <a:t>→ TSFM 强化了 4 个轴, 但如果你的瓶颈在轴 1 或轴 6, 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DCE3F0"/>
                </a:solidFill>
                <a:latin typeface="Microsoft YaHei"/>
              </a:rPr>
              <a:t>  TSFM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救不了你</a:t>
            </a:r>
            <a:r>
              <a:rPr sz="1100" b="0">
                <a:solidFill>
                  <a:srgbClr val="DCE3F0"/>
                </a:solidFill>
                <a:latin typeface="Microsoft YaHe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完整框架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维度间不是独立的 · 它们相互制约和放大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理解 TSFM 必须理解轴间耦合, 不能逐一评估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2880" cy="9601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90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容量 × 数据规模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Chinchilla 缩放律: 给定算力 C, 最优 N ∝ C^0.5, D ∝ C^0.5.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30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TSFM 把数据从 10⁵ 推到 10¹⁰ ⇒ 解锁了 100M-1B 参数模型的潜力。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82880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96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Microsoft YaHei"/>
              </a:rPr>
              <a:t>归纳偏置 × 数据规模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80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更好的先验 ⇒ 同样精度需要更少数据。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3639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Channel-Indep 让有效数据放大 c 倍 (c = 通道数);
Patching 让序列长度缩短 16×.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18288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02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YaHei"/>
              </a:rPr>
              <a:t>信息完备 × 表征能力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若 X 不完备, 容量再大也撞 σ²(Y|X) 下界 ⇒ 投资容量的边际回报为 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4223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反应器场景: 单变量下 200M / 1B / 10B 模型 MAE 几乎相同。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82880" cy="9601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icrosoft YaHei"/>
              </a:rPr>
              <a:t>泛化机制 × 数据规模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ICL 是『数据规模触发的涌现现象』 (Olsson 2022, Chan 2022).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480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在小数据上 ICL 不出现; 必须有足够数据多样性 ⇒ 这是新轴的 prerequisites.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8288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138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YaHei"/>
              </a:rPr>
              <a:t>可识别性 × 一切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若不可识别, 任何一轴上的进步都白搭.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5391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Microsoft YaHei"/>
              </a:rPr>
              <a:t>这是『硬墙』: 必须从观测端 (传感器 / 实验设计) 解决.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究竟在哪里发力?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答案: 协同性地推动了 4 个维度, 而非单一维度的胜利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8B1A"/>
                </a:solidFill>
                <a:latin typeface="Microsoft YaHei"/>
              </a:rPr>
              <a:t>TSFM 贡献度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4173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8B1A"/>
                </a:solidFill>
                <a:latin typeface="Microsoft YaHei"/>
              </a:rPr>
              <a:t>强度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4173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代表创新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74520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1 · 信息完备性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148840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011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Microsoft YaHe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9192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16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2 · 表征能力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53512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0" y="2953512"/>
            <a:ext cx="1554480" cy="2286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8163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↑↑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8163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scaled transformer 100M-1B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83864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2102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3 · 归纳偏置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758184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3758184"/>
            <a:ext cx="173736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362102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↑↑↑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6210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Patching + RevIN + Channel-Indep + Decoder-only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88536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2569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4 · 训练数据规模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562856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4562856"/>
            <a:ext cx="18288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442569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↑↑↑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4256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LOTSA / GIFT-Pretrain — 5-7 量级跃升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93208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303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5 · 泛化机制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5367528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0" y="5367528"/>
            <a:ext cx="18288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52303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↑↑↑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2303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ICL / induction heads — 机制层面质变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97880"/>
            <a:ext cx="1124712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Axis 6 · 可识别性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6172200"/>
            <a:ext cx="1828800" cy="228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6035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Microsoft YaHe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60350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完全不参与 (观测端问题)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1">
                <a:solidFill>
                  <a:srgbClr val="0B1F3A"/>
                </a:solidFill>
                <a:latin typeface="Microsoft YaHei"/>
              </a:rPr>
              <a:t>→  TSFM 是 4 个轴的同时进步; 这种『协同推进』是它和『更大的 LSTM』的本质区别。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维度 1 · 训练数据规模 + 多样性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把 TS 训练分布从 10⁵ 推到 10¹⁰ — 这是质变, 不是量变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为什么数据规模是『新维度』, 不只是更多数据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跨域多样性 (cross-domain diversity)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: LOTSA 包含能源、交通、金融、气象、医疗、销售、Web 等 9 大域;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  M4 / Monash 加起来还在单一基准内.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→ 跨域是『让模型学到时序的共同语义』的关键.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跨频率覆盖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: 从秒级 (网络流量) 到年级 (经济周期), 频率跨 8 个数量级 ⇒ 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  模型见过的『时间尺度词汇表』 与传统模型差几个量级.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缩放律涌现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: Loss(N, D) ≈ A·N^-α + B·D^-β  (α≈0.05, β≈0.10 for TSFM, GIFT-Eval 实证)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486400" cy="5029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传统范式 (per-dataset)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52120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训练数据: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10⁴ - 10⁵ 时间点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(单一数据集)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跨域: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不可行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训练成本: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每个新场景重新训练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数据效率取决于: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当前数据集的样本量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极限性能 (best-in-class):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TFT / N-BEATS 经过精调 → SOTA-on-domain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4864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TSFM 范式 (cross-domain)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2120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训练数据: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10⁹ - 10¹¹ 时间点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(跨 9+ 域)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跨域: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是设计目标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训练成本: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一次预训练, 永久复用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数据效率: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零样本 + 少样本 (跨域积累)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极限性能: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零样本对齐或胜过领域 SOTA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维度 2 · 归纳偏置的精心选择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TSFM 不是『更大的 transformer』, 而是装上了 4 个时序专属先验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321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53212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Patching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把 16-64 个时间点合并为 1 个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5166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类比 BPE: 把『字符』升级为『词』.
• 序列长度 ÷16  ⇒ 长 context 下注意力可承受.
• 多尺度先验: 邻近时间点必然相关.
• 减少高频噪声主导.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5321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5321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Channel-Independence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每条序列独立处理, 不混合通道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5166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反直觉但实证证明强:
• 多变量数据被『展开』为多倍单变量样本 ⇒ 有效数据放大.
• 避免不同变量噪声相互污染.
• 与跨域预训练完美契合.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5321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553212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Reversible Norm (RevIN / InstanceNorm)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推理前减均值除标准差, 推理后还原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5166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尺度不变先验:
• 不论温度是 K 还是 ℃, 模型看到的都是 z-score.
• 解决跨域『单位 / 量级不同』的根本问题.
• 是 zero-shot 能 work 的前提之一.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23360"/>
            <a:ext cx="55321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023360"/>
            <a:ext cx="5532120" cy="5029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0690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Decoder-only / Causal 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只看过去, 自回归生成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29200"/>
            <a:ext cx="5166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时序的因果先验:
• 不能用未来信息预测当前 ⇒ 强约束.
• 与 LLM 同样的训练范式 ⇒ 利用 LLM 工具栈.
• 天然支持任意长度的 horizon.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维度 3 · 泛化机制 — ICL / Induction Heads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这是真正的『新轴』 — 而非旧轴上更进一步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In-Context Learning (ICL):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把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『新任务的少量示例』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 直接放在 prompt 里,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不微调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 直接得出该任务上的预测.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CE3F0"/>
                </a:solidFill>
                <a:latin typeface="Microsoft YaHei"/>
              </a:rPr>
              <a:t>→ 对于 TSFM, 输入序列的过去 =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『示例』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;  模型在推理时『看出』这是什么样的序列, 然后预测后续.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数学上: ICL 等价于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隐式贝叶斯推断</a:t>
            </a:r>
            <a:r>
              <a:rPr sz="1200" b="0">
                <a:solidFill>
                  <a:srgbClr val="FFFFFF"/>
                </a:solidFill>
                <a:latin typeface="Microsoft YaHei"/>
              </a:rPr>
              <a:t> P(y | x, context) = ∫ P(y | x, θ) · P(θ | context) dθ.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7033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70332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Induction Heads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Olsson et al.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3337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Transformer 在第二层 (≥3 层) 涌现的注意力模式:
搜索『过去出现过的相似模式』, 然后 复制 它的后续.
→ 这是 ICL 的电路级机制.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017520"/>
            <a:ext cx="37033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3703320" cy="5029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Implicit Bayesian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Xie et al.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337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GPT-3 在 prompt 上的行为可以严格解释为:
模型对 P(θ | examples) 的近似贝叶斯更新.
→ 解释了『更多 example ⇒ 更准』的规律.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37033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017520"/>
            <a:ext cx="370332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Phase Transition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11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Chan et al.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3337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ICL 在数据规模 / 模型规模到达某阈值时 涌现.
小数据 / 小模型不出现.
→ 这就是为什么 TSFM 必须先突破数据规模.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E88B1A"/>
                </a:solidFill>
                <a:latin typeface="Microsoft YaHei"/>
              </a:rPr>
              <a:t>→ ICL 不是用户两轴中任何一轴的延伸 — 它是机制层面的 emergence, 由数据规模 + 容量 + 偏置 共同触发.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维度 4 · 表征能力 — 但是『定向』提升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不是单纯加大模型, 而是把容量花在正确的位置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天真做法 · 单纯放大 LSTM/MLP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• 假设: 容量越大 ⇒ 性能越好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实证: 在 TS 上, 增大 LSTM 收益快速饱和 (Salinas 2020).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瓶颈不在容量, 而在: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• 长上下文下注意力 / 记忆受限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• 单数据集训练 ⇒ 容量被噪声占满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• 没有『多任务可迁移结构』可学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→ 结果: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  100M LSTM 在 ETT 上 比 10M 强不了多少,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  但在 LOTSA 上, 100M Timer-XL 远胜 10M.</a:t>
            </a:r>
          </a:p>
          <a:p>
            <a:pPr>
              <a:lnSpc>
                <a:spcPct val="130000"/>
              </a:lnSpc>
            </a:pPr>
            <a:r>
              <a:rPr sz="1100" b="1">
                <a:solidFill>
                  <a:srgbClr val="E88B1A"/>
                </a:solidFill>
                <a:latin typeface="Microsoft YaHei"/>
              </a:rPr>
              <a:t>  容量必须配合其他三轴才能兑现.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TSFM 做法 · 容量定向投入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容量分配的工程巧思: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Patching 减序列长度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⇒ attention 复杂度从 O(L²) 降到 O((L/p)²)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⇒ 同算力下能放大模型.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Channel-Indep 让 batch 放大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⇒ 每个 GPU 可同时处理几十个序列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⇒ 训练吞吐 ↑.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RoPE 解锁长 context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⇒ 不需要重新训练就能延长输入历史.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Mixture of frequencies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⇒ 一个模型同时学秒级和年级.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容量从 10M 推到 1B 的可行路径,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   而不是『硬加层数』.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TSFM 的发力点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副产品 · 时序的缩放律被发现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TSFM 的另一个深远贡献: 让 TS 进入了『可预测改进』时代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Time-Series Scaling Laws (Edwards 2024, GIFT-Eval, Chronos team)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800" b="1">
                <a:solidFill>
                  <a:srgbClr val="0B1F3A"/>
                </a:solidFill>
                <a:latin typeface="Microsoft YaHei"/>
              </a:rPr>
              <a:t>        Loss(N, D)  ≈  A · N^(-α)  +  B · D^(-β)  +  L_∞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       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α ≈ 0.05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(参数缩放指数); 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β ≈ 0.10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(数据缩放指数);  </a:t>
            </a:r>
            <a:r>
              <a:rPr sz="1400" b="1">
                <a:solidFill>
                  <a:srgbClr val="C0392B"/>
                </a:solidFill>
                <a:latin typeface="Microsoft YaHei"/>
              </a:rPr>
              <a:t>L_∞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 = 不可约误差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370332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可预测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知道扩大模型 / 数据 ⇒ 性能改善的精确数字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在工业上意味着可以 ROI 评估: 多花 X 美元算力, 误差能降到 Y%.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017520"/>
            <a:ext cx="37033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有明确目标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6576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α / β 越小 ⇒ 收益越快边际递减 ⇒ 知道何时停手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的 α/β 比 LLM 大 ⇒ 还有较大空间; 但 β 远小于 α ⇒ 数据是更稀缺的资源.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01752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0175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有不可越过的下界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L_∞ 体现了信息完备性 (轴 1) 的最终墙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对应用户的轴 1: 即使 N → ∞, D → ∞, 也只能逼近 L_∞.
打破 L_∞ ⇒ 加传感器 / 加协变量, 不是加模型.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TSFM 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的边界 (1) · 信息完备性问题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用户的轴 1 是 TSFM 完全不解决的问题 — 对应上一份 PPT 的反应器场景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0876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一句话: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CE3F0"/>
                </a:solidFill>
                <a:latin typeface="Microsoft YaHei"/>
              </a:rPr>
              <a:t>TSFM 让你『更高效地用 X 预测 Y』,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但它不能让 X 包含原本不在 X 里的信息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DCE3F0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CE3F0"/>
                </a:solidFill>
                <a:latin typeface="Microsoft YaHei"/>
              </a:rPr>
              <a:t>→ 如果你的瓶颈是 σ²(Y|X) (轴 1), TSFM </a:t>
            </a:r>
            <a:r>
              <a:rPr sz="1300" b="1">
                <a:solidFill>
                  <a:srgbClr val="C0392B"/>
                </a:solidFill>
                <a:latin typeface="Microsoft YaHei"/>
              </a:rPr>
              <a:t>零贡献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4864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64592" cy="3108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场景 A · 反应器组分突变 (前 PPT)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你只观测 T(t).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真实系统: dT/dt = f(T, c(t), F, ...).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组分 c(t) 突变 ⇒ T 的轨迹突变.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Stark 1999 定理: c 不能从 T 序列恢复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不论 TSFM 多大, σ²(T(t+h) | T_past) &gt; 0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→ 解决: 加组分传感器 (硬件), 不是换模型.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4864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164592" cy="3108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Microsoft YaHei"/>
              </a:rPr>
              <a:t>场景 B · 黑天鹅 / 罕见事件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训练数据中没出现过类似事件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(例: 一个新冠级别的需求冲击).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TSFM 的 ICL 也无法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从无中生有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实证: TSFM 在『分布外极端事件』上误差激增 (Goerg 2024).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这本质上也是信息完备性问题: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上下文 = 历史观测;  历史从未见过的事件 = 信息缺口.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→ 解决: 引入外生信号 / 异常机制, 不是更大模型.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用户的轴 1 是『硬墙』; TSFM 只能让你贴墙更近, 不能穿墙.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TSFM 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TSFM 的边界 (2) · 可识别性问题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比信息完备性更上游 — TSFM 同样无能为力, 因为问题在观测语义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0B1F3A"/>
                </a:solidFill>
                <a:latin typeface="Microsoft YaHei"/>
              </a:rPr>
              <a:t>不可识别 = 多个本质不同的真实机制, 在你的观测下产生 </a:t>
            </a:r>
            <a:r>
              <a:rPr sz="1300" b="1">
                <a:solidFill>
                  <a:srgbClr val="C0392B"/>
                </a:solidFill>
                <a:latin typeface="Microsoft YaHei"/>
              </a:rPr>
              <a:t>相同的统计行为</a:t>
            </a:r>
            <a:r>
              <a:rPr sz="1300" b="0">
                <a:solidFill>
                  <a:srgbClr val="0B1F3A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→ 这不是『噪声大』而是『歧义』 — 任何 ML 算法 (包括 TSFM) 在歧义点上都退化为随机猜.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→ 解决方法: 改变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观测设计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 — 加传感器 / 主动激励 / 干预实验.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37033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控制系统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稳态下 (ẋ = 0), 多个 (A, b) 给出相同观测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需要主动施加扰动 (PRBS) 才能识别参数.
→ TSFM 在被动观测下无能为力.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788920"/>
            <a:ext cx="37033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788920"/>
            <a:ext cx="370332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7889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生物 / 流行病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感染率 + 报告率 不可分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如果只看新增病例数, 无法分离 真实感染率 和 报告偏差.
→ 必须有血清学采样作为额外观测.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788920"/>
            <a:ext cx="37033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788920"/>
            <a:ext cx="3703320" cy="5029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7889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金融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290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因果效应 vs 相关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0624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时序中两个变量同向变化, 可能因果反过来或共同被第三因素驱动.
→ TSFM 只学相关, 不能给出因果.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启示与决策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工程启示 · 把瓶颈对应到轴, 再选工具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不要用 TSFM 解决它不擅长的问题; 也不要忽视它能解决的问题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瓶颈所在轴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417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8B1A"/>
                </a:solidFill>
                <a:latin typeface="Microsoft YaHei"/>
              </a:rPr>
              <a:t>TSFM 帮得上吗?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正确的下一步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9339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1 · 信息完备性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933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Microsoft YaHei"/>
              </a:rPr>
              <a:t>✗ 不能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9339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加传感器 / 加协变量 / 改善观测设计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77439"/>
            <a:ext cx="11247120" cy="45720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9631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2 · 表征能力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9631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YaHei"/>
              </a:rPr>
              <a:t>✓ 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9631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选 100M-1B 级 TSFM (TimesFM / Chronos / Timer-XL)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0359"/>
            <a:ext cx="11247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9923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3 · 归纳偏置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99923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YaHei"/>
              </a:rPr>
              <a:t>✓✓ 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992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直接用 TSFM (内置 Patching+RevIN+CI 等先验)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11247120" cy="45720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0215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4 · 训练数据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5021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YaHei"/>
              </a:rPr>
              <a:t>✓✓✓ 极强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0215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zero-shot / few-shot / LoRA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86199"/>
            <a:ext cx="11247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0507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5 · 泛化机制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00507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YaHei"/>
              </a:rPr>
              <a:t>✓✓✓ 极强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0507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ICL — 不需要每个任务重训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19"/>
            <a:ext cx="11247120" cy="45720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0799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6 · 可识别性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5079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Microsoft YaHei"/>
              </a:rPr>
              <a:t>✗ 不能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0799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改变观测策略 (主动扰动 / 干预实验)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92039"/>
            <a:ext cx="11247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1091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7 · 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01091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Microsoft YaHei"/>
              </a:rPr>
              <a:t>○ 中性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1091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成熟工程栈, 选择已知稳定的 base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94959"/>
            <a:ext cx="11247120" cy="45720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1383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Axis 8 · 校准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551383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YaHei"/>
              </a:rPr>
              <a:t>✓ 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138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多数自带概率输出; 后续 conformal 校准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启示与决策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把 TSFM 放回时序方法的全景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不同方法在 6 轴上的相对位置 — 一目了然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743200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轴1
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轴2
容量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轴3
偏置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轴4
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轴5
泛化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1417320"/>
            <a:ext cx="1389888" cy="5943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1417320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88B1A"/>
                </a:solidFill>
                <a:latin typeface="Microsoft YaHei"/>
              </a:rPr>
              <a:t>轴6
识别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057400"/>
            <a:ext cx="2743200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574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传统 ARIMA / 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89020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90188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91356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9252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9369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0060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06340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07508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8676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0984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81101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23660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24828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25996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2716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2833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980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42148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43316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4448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4565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58300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59468" y="235000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60636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6180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6297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69880" y="205740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75620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76788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077956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9124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480292" y="235000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283464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8346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深度学习 (LSTM/TCN/TFT)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89020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790188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991356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92524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39369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80060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006340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207508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408676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609844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81101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23660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24828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25996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027164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22833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3524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840980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42148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243316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444484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64565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5256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258300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9468" y="312724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60636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61804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06297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69880" y="283464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675620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76788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077956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279124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480292" y="312724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7200" y="3611880"/>
            <a:ext cx="2743200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3611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本任务监督 + 协变量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8328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89020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790188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991356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192524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9369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80060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006340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207508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408676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09844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81101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1792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423660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24828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825996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027164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22833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63524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840980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042148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243316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444484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64565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5256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258300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459468" y="390448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60636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861804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06297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469880" y="361188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675620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876788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077956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1279124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480292" y="390448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57200" y="438912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4389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TSFM (zero-shot)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8328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589020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790188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991356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192524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393692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80060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006340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207508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408676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609844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811012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1792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423660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624828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25996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027164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228332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63524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840980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042148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243316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444484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645652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5256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258300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459468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660636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861804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062972" y="468172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469880" y="4389120"/>
            <a:ext cx="1389888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675620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876788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077956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279124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480292" y="468172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57200" y="5166360"/>
            <a:ext cx="2743200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40080" y="5166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TSFM + LoRA + 物理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38328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589020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790188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3991356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192524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393692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80060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006340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207508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408676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609844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811012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21792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423660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624828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825996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027164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228332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63524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840980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042148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43316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444484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645652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05256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258300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459468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660636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861804" y="5458968"/>
            <a:ext cx="164592" cy="164592"/>
          </a:xfrm>
          <a:prstGeom prst="ellipse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062972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469880" y="5166360"/>
            <a:ext cx="1389888" cy="73152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675620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876788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1077956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1279124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1480292" y="5458968"/>
            <a:ext cx="164592" cy="164592"/>
          </a:xfrm>
          <a:prstGeom prst="ellipse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1">
                <a:solidFill>
                  <a:srgbClr val="0B1F3A"/>
                </a:solidFill>
                <a:latin typeface="Microsoft YaHei"/>
              </a:rPr>
              <a:t>→  TSFM 的优势集中在 轴 3-5; 受迫系统中, 必须搭配协变量补足 轴 1; 轴 6 永远在观测端解决.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Microsoft YaHei"/>
              </a:rPr>
              <a:t>最终回答你的问题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总结: 你的两轴框架是对的, 但不完整; TSFM 在 4 个被忽略的轴上做了文章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时序预测的宏观维度 — TSFM 究竟在哪里发力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777240" cy="15544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你对时序预测的两轴认知准确吗?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74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准确 — 但只是必要条件, 不是充分.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信息完备性 ↔ 不可约误差下界 σ²(Y|X);  表征能力 ↔ 近似误差 ‖f*−f̂‖².
两者必须满足, 但还要加上至少 4 个被你的框架忽略的宏观维度.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777240" cy="1554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在宏观上还需要补充什么?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YaHei"/>
              </a:rPr>
              <a:t>至少 4 个: 归纳偏置, 训练数据规模 (≠per-instance 上下文), 泛化机制, 可识别性. 加上次要的 优化 + 校准.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233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其中 可识别性 比信息完备性更上游 (观测语义层面); 数据规模 + 泛化机制 共同决定 ICL 这种新型迁移能否涌现.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777240" cy="15544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TSFM 在哪些维度上做了文章?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Microsoft YaHei"/>
              </a:rPr>
              <a:t>在 4 个轴上同时发力: 数据规模, 归纳偏置, 泛化机制, 表征容量. 副产品: 缩放律.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150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重要的是 协同性 — 把容量 / 偏置 / 数据 / 机制 同时推到了新水平; 不是单一维度的胜利.
它 不解决 信息完备性 + 可识别性 — 这两个是观测端问题, 工程上必须另想办法.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