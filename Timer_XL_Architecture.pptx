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4400" b="1">
                <a:solidFill>
                  <a:srgbClr val="FFFFFF"/>
                </a:solidFill>
                <a:latin typeface="Arial"/>
                <a:ea typeface="SimHei"/>
              </a:rPr>
              <a:t>Timer-XL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2000" b="0">
                <a:solidFill>
                  <a:srgbClr val="90CAF9"/>
                </a:solidFill>
                <a:latin typeface="Arial"/>
                <a:ea typeface="SimHei"/>
              </a:rPr>
              <a:t>Long-Context Transformers for Unified Time Series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50000"/>
              </a:lnSpc>
            </a:pPr>
            <a:r>
              <a:rPr sz="1400" b="0">
                <a:solidFill>
                  <a:srgbClr val="BBDEFB"/>
                </a:solidFill>
                <a:latin typeface="Arial"/>
                <a:ea typeface="SimHei"/>
              </a:rPr>
              <a:t>Decoder-Only 架构  ·  Next-Token Prediction  ·  可变上下文长度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50000"/>
              </a:lnSpc>
            </a:pPr>
            <a:r>
              <a:rPr sz="1400" b="0">
                <a:solidFill>
                  <a:srgbClr val="BBDEFB"/>
                </a:solidFill>
                <a:latin typeface="Arial"/>
                <a:ea typeface="SimHei"/>
              </a:rPr>
              <a:t>预训练支持最多 2880 步 (30 patches)，推理灵活可调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50000"/>
              </a:lnSpc>
            </a:pPr>
            <a:r>
              <a:rPr sz="1400" b="0">
                <a:solidFill>
                  <a:srgbClr val="BBDEFB"/>
                </a:solidFill>
                <a:latin typeface="Arial"/>
                <a:ea typeface="SimHei"/>
              </a:rPr>
              <a:t>支持单变量 (U) / 多变量 (M) / 协变量 (Co) 三种模式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8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40000"/>
              </a:lnSpc>
            </a:pPr>
            <a:r>
              <a:rPr sz="1200" b="0">
                <a:solidFill>
                  <a:srgbClr val="7BA0C9"/>
                </a:solidFill>
                <a:latin typeface="Arial"/>
                <a:ea typeface="SimHei"/>
              </a:rPr>
              <a:t>Liu, Qin, Huang, Wang, Long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40000"/>
              </a:lnSpc>
            </a:pPr>
            <a:r>
              <a:rPr sz="1200" b="0">
                <a:solidFill>
                  <a:srgbClr val="7BA0C9"/>
                </a:solidFill>
                <a:latin typeface="Arial"/>
                <a:ea typeface="SimHei"/>
              </a:rPr>
              <a:t>Tsinghua University  |  arXiv: 2410.04803  |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2200" b="1">
                <a:solidFill>
                  <a:srgbClr val="1A237E"/>
                </a:solidFill>
                <a:latin typeface="Arial"/>
                <a:ea typeface="SimHei"/>
              </a:rPr>
              <a:t>核心思想：将时间序列预测建模为 Next-Token Prediction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720000"/>
            <a:ext cx="5580000" cy="1152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756000"/>
            <a:ext cx="52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SimHei"/>
              </a:rPr>
              <a:t>NLP (GPT 系列)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1007999"/>
            <a:ext cx="52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输入: "The cat sat on the ___"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每个 word token 预测下一个 word token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Causal attention: 当前 token 只看过去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0" y="720000"/>
            <a:ext cx="5580000" cy="115200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8000" y="756000"/>
            <a:ext cx="52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SimHei"/>
              </a:rPr>
              <a:t>Timer-XL (时间序列)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007999"/>
            <a:ext cx="52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输入: [Patch₁][Patch₂]...[Patch₁₅] → [Patch₁₆]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每个 patch (96步) 预测下一个 patch (96步)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Causal attention: 当前 patch 只看历史 patches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088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600" b="1">
                <a:solidFill>
                  <a:srgbClr val="1A237E"/>
                </a:solidFill>
                <a:latin typeface="Arial"/>
                <a:ea typeface="SimHei"/>
              </a:rPr>
              <a:t>关键设计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2376000"/>
            <a:ext cx="1007999" cy="827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SimHei"/>
              </a:rPr>
              <a:t>Decoder-Only 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430000"/>
            <a:ext cx="102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与 GPT 相同的因果注意力机制。Token Tᵢ 只能注意到 T₁, T₂, ..., Tᵢ，不能看到未来。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训练时所有位置同时计算 loss，推理时取最后一个输出作为 forecast。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3420000"/>
            <a:ext cx="1007999" cy="827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SimHei"/>
              </a:rPr>
              <a:t>Patch-based Tokenization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2000" y="3474000"/>
            <a:ext cx="102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将连续时间序列按 token_len=96 切分为不重叠的 patches，每个 patch 通过线性层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嵌入到 d_model=1024 维空间。N = seq_len / token_len = 1440 / 96 = 15 个 tokens。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4463999"/>
            <a:ext cx="1007999" cy="827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SimHei"/>
              </a:rPr>
              <a:t>灵活的上下文长度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518000"/>
            <a:ext cx="102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预训练时使用 30 patches (2880步)，推理时可缩短至任意 patch 数。本项目使用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15 patches (1440步)。模型通过 unfold 动态确定 N，无需固定位置编码。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5508000"/>
            <a:ext cx="1007999" cy="827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SimHei"/>
              </a:rPr>
              <a:t>统一的预训练-微调框架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2000" y="5562000"/>
            <a:ext cx="102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同一个预训练 checkpoint 支持三种推理模式: U (单变量自预测)、M (多变量同时预测)、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Co (协变量辅助, 多变量输入→单变量输出)。下游任务通过小学习率 (5e-6) 微调适配。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2200" b="1">
                <a:solidFill>
                  <a:srgbClr val="1A237E"/>
                </a:solidFill>
                <a:latin typeface="Arial"/>
                <a:ea typeface="SimHei"/>
              </a:rPr>
              <a:t>Step 1: Tokenization — 时间序列 → Patch 序列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720000"/>
            <a:ext cx="11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原始时间序列经过三步转换进入 Transformer: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① Unfold: 按 token_len=96 无重叠切分 → N 个 patches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② Linear Embedding: 每个 patch (96维) 映射到 d_model (1024维)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5000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③ Reshape: 多变量时按 [B, C×N, D] 排列，C 个变量共享 Transformer 权重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800000"/>
            <a:ext cx="11340000" cy="4320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835999"/>
            <a:ext cx="1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1">
                <a:solidFill>
                  <a:srgbClr val="1565C0"/>
                </a:solidFill>
                <a:latin typeface="Arial"/>
                <a:ea typeface="SimHei"/>
              </a:rPr>
              <a:t>原始时间序列  seq_len = 1440 步  (采样频率: 1分钟/步)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0" y="2268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1">
                <a:solidFill>
                  <a:srgbClr val="FF6F00"/>
                </a:solidFill>
                <a:latin typeface="Arial"/>
                <a:ea typeface="SimHei"/>
              </a:rPr>
              <a:t>↓  x.unfold(size=96, step=96)  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628000"/>
            <a:ext cx="702000" cy="396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0800" y="2628000"/>
            <a:ext cx="702000" cy="396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9600" y="2628000"/>
            <a:ext cx="702000" cy="396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8400" y="2628000"/>
            <a:ext cx="702000" cy="396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7200" y="2628000"/>
            <a:ext cx="702000" cy="396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2628000"/>
            <a:ext cx="702000" cy="396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24800" y="2628000"/>
            <a:ext cx="702000" cy="396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73600" y="2628000"/>
            <a:ext cx="702000" cy="396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2400" y="2628000"/>
            <a:ext cx="702000" cy="396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1199" y="2628000"/>
            <a:ext cx="702000" cy="396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0" y="2628000"/>
            <a:ext cx="702000" cy="396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8800" y="2628000"/>
            <a:ext cx="702000" cy="396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7600" y="2628000"/>
            <a:ext cx="702000" cy="396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66400" y="2628000"/>
            <a:ext cx="702000" cy="396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15200" y="2628000"/>
            <a:ext cx="702000" cy="396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96步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0" y="309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1">
                <a:solidFill>
                  <a:srgbClr val="FF6F00"/>
                </a:solidFill>
                <a:latin typeface="Arial"/>
                <a:ea typeface="SimHei"/>
              </a:rPr>
              <a:t>↓  nn.Linear(96, 1024)  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3420000"/>
            <a:ext cx="702000" cy="3960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0800" y="3420000"/>
            <a:ext cx="702000" cy="3960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9600" y="3420000"/>
            <a:ext cx="702000" cy="3960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78400" y="3420000"/>
            <a:ext cx="702000" cy="3960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7200" y="3420000"/>
            <a:ext cx="702000" cy="3960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76000" y="3420000"/>
            <a:ext cx="702000" cy="3960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24800" y="3420000"/>
            <a:ext cx="702000" cy="3960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3600" y="3420000"/>
            <a:ext cx="702000" cy="3960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2400" y="3420000"/>
            <a:ext cx="702000" cy="3960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1199" y="3420000"/>
            <a:ext cx="702000" cy="3960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0000" y="3420000"/>
            <a:ext cx="702000" cy="3960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E11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68800" y="3420000"/>
            <a:ext cx="702000" cy="3960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7600" y="3420000"/>
            <a:ext cx="702000" cy="3960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E13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66400" y="3420000"/>
            <a:ext cx="702000" cy="3960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E14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15200" y="3420000"/>
            <a:ext cx="702000" cy="3960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E15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1024d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000" y="4031999"/>
            <a:ext cx="11340000" cy="540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0000" y="4068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1">
                <a:solidFill>
                  <a:srgbClr val="424242"/>
                </a:solidFill>
                <a:latin typeface="Arial"/>
                <a:ea typeface="SimHei"/>
              </a:rPr>
              <a:t>N = seq_len ÷ token_len = 1440 ÷ 96 = 15 patches    |    Input shape: [B, C, L] → unfold → [B, C, N, 96] → embed → [B, C×N, 1024]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0000" y="4752000"/>
            <a:ext cx="11340000" cy="162000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0000" y="4824000"/>
            <a:ext cx="1080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80CBC4"/>
                </a:solidFill>
                <a:latin typeface="Arial"/>
                <a:ea typeface="SimHei"/>
              </a:rPr>
              <a:t># timer_xl.py  Model.forecast()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80CBC4"/>
                </a:solidFill>
                <a:latin typeface="Arial"/>
                <a:ea typeface="SimHei"/>
              </a:rPr>
              <a:t>x = x.permute(0, 2, 1)                                    # [B, C, L]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80CBC4"/>
                </a:solidFill>
                <a:latin typeface="Arial"/>
                <a:ea typeface="SimHei"/>
              </a:rPr>
              <a:t>x = x.unfold(dimension=-1, size=96, step=96)              # [B, C, N, 96]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80CBC4"/>
                </a:solidFill>
                <a:latin typeface="Arial"/>
                <a:ea typeface="SimHei"/>
              </a:rPr>
              <a:t>embed_out = self.embedding(x)                              # [B, C, N, 1024]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80CBC4"/>
                </a:solidFill>
                <a:latin typeface="Arial"/>
                <a:ea typeface="SimHei"/>
              </a:rPr>
              <a:t>embed_out = embed_out.reshape(B, C * N, -1)                # [B, C*N, 1024]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80CBC4"/>
                </a:solidFill>
                <a:latin typeface="Arial"/>
                <a:ea typeface="SimHei"/>
              </a:rPr>
              <a:t>embed_out, attns = self.blocks(embed_out, n_vars=C, n_tokens=N)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80CBC4"/>
                </a:solidFill>
                <a:latin typeface="Arial"/>
                <a:ea typeface="SimHei"/>
              </a:rPr>
              <a:t>dec_out = self.head(embed_out)                             # [B, C*N, 96]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80CBC4"/>
                </a:solidFill>
                <a:latin typeface="Arial"/>
                <a:ea typeface="SimHei"/>
              </a:rPr>
              <a:t>dec_out = dec_out.reshape(B, C, N, -1).reshape(B, C, -1)  # [B, C, N*96]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80CBC4"/>
                </a:solidFill>
                <a:latin typeface="Arial"/>
                <a:ea typeface="SimHei"/>
              </a:rPr>
              <a:t>dec_out = dec_out.permute(0, 2, 1)                        # [B, N*96, C]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2200" b="1">
                <a:solidFill>
                  <a:srgbClr val="1A237E"/>
                </a:solidFill>
                <a:latin typeface="Arial"/>
                <a:ea typeface="SimHei"/>
              </a:rPr>
              <a:t>Step 2: Causal Transformer — 因果注意力机制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37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1">
                <a:solidFill>
                  <a:srgbClr val="78909C"/>
                </a:solidFill>
                <a:latin typeface="Arial"/>
                <a:ea typeface="SimHei"/>
              </a:rPr>
              <a:t>Key (被注意的 token)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252000" y="1440000"/>
            <a:ext cx="72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1">
                <a:solidFill>
                  <a:srgbClr val="78909C"/>
                </a:solidFill>
                <a:latin typeface="Arial"/>
                <a:ea typeface="SimHei"/>
              </a:rPr>
              <a:t>Query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1">
                <a:solidFill>
                  <a:srgbClr val="78909C"/>
                </a:solidFill>
                <a:latin typeface="Arial"/>
                <a:ea typeface="SimHei"/>
              </a:rPr>
              <a:t>(当前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1">
                <a:solidFill>
                  <a:srgbClr val="78909C"/>
                </a:solidFill>
                <a:latin typeface="Arial"/>
                <a:ea typeface="SimHei"/>
              </a:rPr>
              <a:t>token)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72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72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999" y="72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6000" y="72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6000" y="72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000" y="72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6000" y="72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" y="1026000"/>
            <a:ext cx="4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" y="1565999"/>
            <a:ext cx="4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" y="2106000"/>
            <a:ext cx="4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" y="2646000"/>
            <a:ext cx="4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" y="3186000"/>
            <a:ext cx="4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" y="3726000"/>
            <a:ext cx="4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" y="4266000"/>
            <a:ext cx="4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90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000" y="90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20000" y="90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60000" y="90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00000" y="90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0000" y="90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80000" y="90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0000" y="144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0000" y="144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20000" y="144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60000" y="144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00000" y="144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0000" y="144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80000" y="144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0000" y="198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80000" y="198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20000" y="198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60000" y="198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0000" y="198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0000" y="198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80000" y="198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0000" y="252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80000" y="252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20000" y="252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60000" y="252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00000" y="252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40000" y="252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80000" y="252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0000" y="306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0000" y="306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20000" y="306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60000" y="306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00000" y="306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40000" y="306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80000" y="306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0000" y="360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80000" y="360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20000" y="360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160000" y="360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00000" y="360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40000" y="360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780000" y="3600000"/>
            <a:ext cx="503999" cy="503999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EC5"/>
                </a:solidFill>
                <a:latin typeface="Arial"/>
                <a:ea typeface="SimHei"/>
              </a:rPr>
              <a:t>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0000" y="414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0000" y="414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620000" y="414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60000" y="414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00000" y="414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40000" y="414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780000" y="4140000"/>
            <a:ext cx="503999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40000" y="792000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600" b="1">
                <a:solidFill>
                  <a:srgbClr val="1A237E"/>
                </a:solidFill>
                <a:latin typeface="Arial"/>
                <a:ea typeface="SimHei"/>
              </a:rPr>
              <a:t>Causal Masking 规则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40000" y="1152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• Token Tᵢ 只能注意到 T₁, T₂, ..., Tᵢ (下三角区域 ✓)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40000" y="1584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• 未来的 token 被 mask 掉 (上三角区域 ✗)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40000" y="2015999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• 与 GPT 系列的自回归注意力完全一致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40000" y="2448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• 保证预测时不会"偷看"未来信息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40000" y="288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• 训练时所有位置并行计算，效率高于逐步自回归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40000" y="3311999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• 多变量模式下，同一变量的 tokens 之间做 causal attention，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40000" y="3743999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424242"/>
                </a:solidFill>
                <a:latin typeface="Arial"/>
                <a:ea typeface="SimHei"/>
              </a:rPr>
              <a:t>  不同变量之间通过 TimeAttention 交互 (详见 SelfAttention_Family.py)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40000" y="4320000"/>
            <a:ext cx="6660000" cy="1980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48000" y="4356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300" b="1">
                <a:solidFill>
                  <a:srgbClr val="1565C0"/>
                </a:solidFill>
                <a:latin typeface="Arial"/>
                <a:ea typeface="SimHei"/>
              </a:rPr>
              <a:t>Timer-XL 预训练架构参数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48000" y="4608000"/>
            <a:ext cx="14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A237E"/>
                </a:solidFill>
                <a:latin typeface="Arial"/>
                <a:ea typeface="SimHei"/>
              </a:rPr>
              <a:t>参数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60000" y="4608000"/>
            <a:ext cx="18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A237E"/>
                </a:solidFill>
                <a:latin typeface="Arial"/>
                <a:ea typeface="SimHei"/>
              </a:rPr>
              <a:t>值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0000" y="46080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A237E"/>
                </a:solidFill>
                <a:latin typeface="Arial"/>
                <a:ea typeface="SimHei"/>
              </a:rPr>
              <a:t>说明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48000" y="4795200"/>
            <a:ext cx="14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e_layers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60000" y="4795200"/>
            <a:ext cx="18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0000" y="47952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Transformer 编码器层数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8000" y="4982400"/>
            <a:ext cx="14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d_model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60000" y="4982400"/>
            <a:ext cx="18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1024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60000" y="49824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隐藏层维度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48000" y="5169600"/>
            <a:ext cx="14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d_ff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60000" y="5169600"/>
            <a:ext cx="18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2048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60000" y="51696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FFN 中间层维度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48000" y="5356800"/>
            <a:ext cx="14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n_heads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60000" y="5356800"/>
            <a:ext cx="18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60000" y="53568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注意力头数 (每头 128 维)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48000" y="5544000"/>
            <a:ext cx="14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input_token_len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60000" y="5544000"/>
            <a:ext cx="18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96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60000" y="55440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每个 patch 的时间步数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48000" y="5731200"/>
            <a:ext cx="14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output_token_len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60000" y="5731200"/>
            <a:ext cx="18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96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60000" y="57312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每个预测 patch 的时间步数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48000" y="5918400"/>
            <a:ext cx="14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预训练 context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60000" y="5918400"/>
            <a:ext cx="18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30 patches (2880步)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60000" y="59184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UTSD 数据集上预训练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48000" y="6105600"/>
            <a:ext cx="14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推理 context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60000" y="6105600"/>
            <a:ext cx="18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15 patches (1440步)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60000" y="61056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本项目 PCA101A 使用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60000" y="4860000"/>
            <a:ext cx="4140000" cy="1440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8000" y="4896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300" b="1">
                <a:solidFill>
                  <a:srgbClr val="1565C0"/>
                </a:solidFill>
                <a:latin typeface="Arial"/>
                <a:ea typeface="SimHei"/>
              </a:rPr>
              <a:t>Causal Mask 含义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8000" y="5148000"/>
            <a:ext cx="37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在标准 Transformer 中，self-attention 允许每个位置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注意到序列中所有其他位置 (双向注意力)。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Causal mask 将注意力限制为单向：每个位置只能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注意到它之前 (含自身) 的位置。这使模型在训练时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可以并行计算所有位置的 next-token loss。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2200" b="1">
                <a:solidFill>
                  <a:srgbClr val="1A237E"/>
                </a:solidFill>
                <a:latin typeface="Arial"/>
                <a:ea typeface="SimHei"/>
              </a:rPr>
              <a:t>Step 3: Next-Token Prediction — 推理全过程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" y="917999"/>
            <a:ext cx="4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Input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1565C0"/>
                </a:solidFill>
                <a:latin typeface="Arial"/>
                <a:ea typeface="SimHei"/>
              </a:rPr>
              <a:t>Tokens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000" y="900000"/>
            <a:ext cx="666000" cy="324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50000" y="900000"/>
            <a:ext cx="666000" cy="324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88000" y="900000"/>
            <a:ext cx="666000" cy="324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26000" y="900000"/>
            <a:ext cx="666000" cy="324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3999" y="900000"/>
            <a:ext cx="666000" cy="324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2000" y="900000"/>
            <a:ext cx="666000" cy="324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9999" y="900000"/>
            <a:ext cx="666000" cy="324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77999" y="900000"/>
            <a:ext cx="666000" cy="324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5999" y="900000"/>
            <a:ext cx="666000" cy="324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3999" y="900000"/>
            <a:ext cx="666000" cy="324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2000" y="900000"/>
            <a:ext cx="666000" cy="324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29999" y="900000"/>
            <a:ext cx="666000" cy="324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7999" y="900000"/>
            <a:ext cx="666000" cy="324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06000" y="900000"/>
            <a:ext cx="666000" cy="3240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43999" y="900000"/>
            <a:ext cx="666000" cy="324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000" y="1512000"/>
            <a:ext cx="10997999" cy="432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1548000"/>
            <a:ext cx="10997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1">
                <a:solidFill>
                  <a:srgbClr val="424242"/>
                </a:solidFill>
                <a:latin typeface="Arial"/>
                <a:ea typeface="SimHei"/>
              </a:rPr>
              <a:t>Causal Transformer (8L × 1024D)  —  Token Tᵢ attends to T₁...Tᵢ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" y="2250000"/>
            <a:ext cx="4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78909C"/>
                </a:solidFill>
                <a:latin typeface="Arial"/>
                <a:ea typeface="SimHei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78909C"/>
                </a:solidFill>
                <a:latin typeface="Arial"/>
                <a:ea typeface="SimHei"/>
              </a:rPr>
              <a:t>Tokens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0000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88000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26000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3999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2000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39999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77999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5999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53999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2000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29999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7999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06000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43999" y="2232000"/>
            <a:ext cx="666000" cy="324000"/>
          </a:xfrm>
          <a:prstGeom prst="roundRect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T14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000" y="2286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000" b="1">
                <a:solidFill>
                  <a:srgbClr val="FF6F00"/>
                </a:solidFill>
                <a:latin typeface="Arial"/>
                <a:ea typeface="SimHei"/>
              </a:rPr>
              <a:t>→ shift+1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000" y="2880000"/>
            <a:ext cx="11340000" cy="342000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0000" y="2916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400" b="1">
                <a:solidFill>
                  <a:srgbClr val="FFFFFF"/>
                </a:solidFill>
                <a:latin typeface="Arial"/>
                <a:ea typeface="SimHei"/>
              </a:rPr>
              <a:t>详细解析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3204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>输入 N=15 个 tokens，模型输出 N=15 个预测。每个输出位置 i 预测的是 Token i+1 (next token)。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34488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36936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1">
                <a:solidFill>
                  <a:srgbClr val="FFD54F"/>
                </a:solidFill>
                <a:latin typeface="Arial"/>
                <a:ea typeface="SimHei"/>
              </a:rPr>
              <a:t>【前 14 个输出 → Reconstruction (重建)】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00" y="39384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>  Output[0] = 预测 T₂   (对应 ground truth: data[96:192])     ← 可用于验证模型重建质量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000" y="41832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>  Output[1] = 预测 T₃   (对应 ground truth: data[192:288])    ← 因为 causal mask，T₂ 只看到 T₁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00" y="442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>  ...依此类推...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" y="46728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>  Output[13] = 预测 T₁₅  (对应 ground truth: data[1344:1440])  ← T₁₄ 看到 T₁~T₁₄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000" y="49176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000" y="51624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1">
                <a:solidFill>
                  <a:srgbClr val="FFD54F"/>
                </a:solidFill>
                <a:latin typeface="Arial"/>
                <a:ea typeface="SimHei"/>
              </a:rPr>
              <a:t>【第 15 个输出 → Forecast (预测未来)】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000" y="54072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>  Output[14] = 预测 T₁₆  (对应 ground truth: data[1440:1536])  ← 这就是最终的 forecast!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00" y="5652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>  代码: pred = output[:, -96:, :]  取最后 96 步即为未来预测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0000" y="58968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000" y="61416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>推理只需一次前向传播 (test_pred_len=96 时)。若需更长预测，自回归地把预测拼回输入继续推。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2200" b="1">
                <a:solidFill>
                  <a:srgbClr val="1A237E"/>
                </a:solidFill>
                <a:latin typeface="Arial"/>
                <a:ea typeface="SimHei"/>
              </a:rPr>
              <a:t>Training &amp; Inference — 数据流与损失函数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720000"/>
            <a:ext cx="5580000" cy="5580000"/>
          </a:xfrm>
          <a:prstGeom prst="round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756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600" b="1">
                <a:solidFill>
                  <a:srgbClr val="1565C0"/>
                </a:solidFill>
                <a:latin typeface="Arial"/>
                <a:ea typeface="SimHei"/>
              </a:rPr>
              <a:t>Training (is_training=1)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8000" y="1080000"/>
            <a:ext cx="900000" cy="432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SimHei"/>
              </a:rPr>
              <a:t>Data Loader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98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seq_x = data[i : i+1440]              ← 输入 (15 tokens)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seq_y = data[i+96 : i+1536]           ← 目标 (右移 1 token)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seq_y 做 unfold → 15 个 target patches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n_timepoint = len(data) - 1440 - 96 + 1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000" y="2340000"/>
            <a:ext cx="900000" cy="432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SimHei"/>
              </a:rPr>
              <a:t>Loss 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2358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标准模式: MSE(output, target) 在全部 15 个位置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Partial 模式: 只在最后 loss_pred_len 步计算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  → loss_pred_len=15 时只关注最后 15 分钟的预测精度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" y="3600000"/>
            <a:ext cx="900000" cy="432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SimHei"/>
              </a:rPr>
              <a:t>优化器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3618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Adam, lr=5e-6 (微调用极小学习率)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CosineAnnealingLR, T_max=10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EarlyStopping, patience=3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" y="4860000"/>
            <a:ext cx="900000" cy="432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SimHei"/>
              </a:rPr>
              <a:t>微调策略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4878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--adaptation 加载预训练权重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--valid_last 验证时只看最后一个 token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batch_size=32, train_epochs=10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0" y="720000"/>
            <a:ext cx="5580000" cy="5580000"/>
          </a:xfrm>
          <a:prstGeom prst="round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8000" y="756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600" b="1">
                <a:solidFill>
                  <a:srgbClr val="E53935"/>
                </a:solidFill>
                <a:latin typeface="Arial"/>
                <a:ea typeface="SimHei"/>
              </a:rPr>
              <a:t>Inference (is_training=0)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8000" y="1080000"/>
            <a:ext cx="900000" cy="43200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单步推理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(test_pred=96)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0000" y="1098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output = model(batch_x)               ← 一次前向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pred = output[:, -96:, :]             ← 取最后 patch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这就是未来 96 步的预测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只需 1 次前向传播，非常高效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8000" y="2340000"/>
            <a:ext cx="900000" cy="43200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多步推理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(test_pred&gt;96)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000" y="2358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for j in range(inference_steps):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    output = model(batch_x)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    pred_y.append(output[:, -96:, :])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    batch_x = cat(batch_x[:, 96:, :], pred_y[-1])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8000" y="3600000"/>
            <a:ext cx="900000" cy="43200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结果保存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0000" y="3618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pred.npy: 所有窗口的预测结果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true.npy: 对应的 ground truth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metrics.npy: [MAE, MSE, RMSE, MAPE, MSPE]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保存路径: ./results/{setting}/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8000" y="4860000"/>
            <a:ext cx="900000" cy="43200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SimHei"/>
              </a:rPr>
              <a:t>反归一化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0000" y="4878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inverse_transform 还原到原始尺度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Covariate 模式: 只取最后一列 (目标变量)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0000"/>
              </a:lnSpc>
            </a:pPr>
            <a:r>
              <a:rPr sz="1000" b="0">
                <a:solidFill>
                  <a:srgbClr val="424242"/>
                </a:solidFill>
                <a:latin typeface="Arial"/>
                <a:ea typeface="SimHei"/>
              </a:rPr>
              <a:t>preds = preds[:, :, -1]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2200" b="1">
                <a:solidFill>
                  <a:srgbClr val="1A237E"/>
                </a:solidFill>
                <a:latin typeface="Arial"/>
                <a:ea typeface="SimHei"/>
              </a:rPr>
              <a:t>三种推理模式: U / M / 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720000"/>
            <a:ext cx="3600000" cy="720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U (Univariate)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只用目标变量自预测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620000"/>
            <a:ext cx="3600000" cy="1620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1655999"/>
            <a:ext cx="3384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features = 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输入: [B, 1440, 1]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输出: [B, 1440, 1]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forecast = output[:, -96:, 0]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3420000"/>
            <a:ext cx="3600000" cy="198000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3456000"/>
            <a:ext cx="3384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• 最简单的模式，zero-shot 效果最好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• 单变量自回归，不受无关变量干扰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• 适合目标变量自身规律性强的场景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• PCA101A zero-shot MAE=0.2184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8000" y="720000"/>
            <a:ext cx="3600000" cy="720000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M (Multivariate)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所有变量同时预测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000" y="1620000"/>
            <a:ext cx="3600000" cy="1620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6000" y="1655999"/>
            <a:ext cx="3384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features = M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输入: [B, 1440, 6]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输出: [B, 1440, 6]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forecast = output[:, -96:, :]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8000" y="3420000"/>
            <a:ext cx="3600000" cy="198000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6000" y="3456000"/>
            <a:ext cx="3384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• 6 个变量各自 embedding 后共享 Transformer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• 变量间通过 TimeAttention 交互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• 输出包含所有变量的预测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• 对非目标变量的噪声敏感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6000" y="720000"/>
            <a:ext cx="3600000" cy="72000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Co (Covariate)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多变量输入 → 单变量输出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6000" y="1620000"/>
            <a:ext cx="3600000" cy="1620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4000" y="1655999"/>
            <a:ext cx="3384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features = MS, covariate=True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输入: [B, 1440, 6]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输出: [B, 1440, 6] → 取最后列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30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forecast = output[:, -96:, -1]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6000" y="3420000"/>
            <a:ext cx="3600000" cy="198000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000" y="3456000"/>
            <a:ext cx="3384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• TimerCovariateMask 控制注意力: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  - 目标列可注意所有协变量的历史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  - 协变量只注意自己的历史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lnSpc>
                <a:spcPct val="125000"/>
              </a:lnSpc>
            </a:pPr>
            <a:r>
              <a:rPr sz="1100" b="0">
                <a:solidFill>
                  <a:srgbClr val="424242"/>
                </a:solidFill>
                <a:latin typeface="Arial"/>
                <a:ea typeface="SimHei"/>
              </a:rPr>
              <a:t>• 利用多源信息预测单一目标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5580000"/>
            <a:ext cx="11340000" cy="79200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5616000"/>
            <a:ext cx="10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SimHei"/>
              </a:rPr>
              <a:t>PCA101A Zero-shot 指标对比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5832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FFFFFF"/>
                </a:solidFill>
                <a:latin typeface="Arial"/>
                <a:ea typeface="SimHei"/>
              </a:rPr>
              <a:t>U→U:  MAE=0.2184, MSE=0.0642  (最优)    |    M→M:  MAE=0.5484, MSE=0.3868    |    Co M→1:  MAE=0.4804, MSE=0.2861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3600" b="1">
                <a:solidFill>
                  <a:srgbClr val="FFFFFF"/>
                </a:solidFill>
                <a:latin typeface="Arial"/>
                <a:ea typeface="SimHei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260000"/>
            <a:ext cx="1620000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SimHei"/>
              </a:rPr>
              <a:t>① Tokenization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0000" y="1314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时间序列 → 固定长度 Patches (token_len=96)，线性嵌入到 1024 维空间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1620000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SimHei"/>
              </a:rPr>
              <a:t>② Causal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034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Decoder-Only 因果注意力，Token Tᵢ 只看 T₁..Tᵢ，8层 × 1024维 × 8头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2700000"/>
            <a:ext cx="1620000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SimHei"/>
              </a:rPr>
              <a:t>③ Next-Token Pred.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0" y="2754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每个位置预测下一个 token，最后一个输出即为 forecast (未来 96 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3420000"/>
            <a:ext cx="1620000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SimHei"/>
              </a:rPr>
              <a:t>④ 灵活上下文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474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预训练 30 patches (2880步)，推理可调；本项目用 15 patches (1440步)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4140000"/>
            <a:ext cx="1620000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SimHei"/>
              </a:rPr>
              <a:t>⑤ 三种模式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4194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U (单变量) / M (多变量) / Co (协变量)，同一预训练权重，微调适配下游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4860000"/>
            <a:ext cx="1620000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SimHei"/>
              </a:rPr>
              <a:t>⑥ 训练策略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00" y="4914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小学习率 5e-6，CosineAnnealing，EarlyStopping；Partial loss 聚焦短期预测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00" y="5580000"/>
            <a:ext cx="1620000" cy="503999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SimHei"/>
              </a:rPr>
              <a:t>⑦ 高效推理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000" y="5634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200" b="0">
                <a:solidFill>
                  <a:srgbClr val="FFFFFF"/>
                </a:solidFill>
                <a:latin typeface="Arial"/>
                <a:ea typeface="SimHei"/>
              </a:rPr>
              <a:t>单步预测只需一次前向传播；多步预测通过自回归滑窗实现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63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lnSpc>
                <a:spcPct val="114999"/>
              </a:lnSpc>
            </a:pPr>
            <a:r>
              <a:rPr sz="1100" b="0">
                <a:solidFill>
                  <a:srgbClr val="7BA0C9"/>
                </a:solidFill>
                <a:latin typeface="Arial"/>
                <a:ea typeface="SimHei"/>
              </a:rPr>
              <a:t>Timer-XL  |  Liu et al., Tsinghua University  |  arXiv: 2410.04803  | 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